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22"/>
  </p:notesMasterIdLst>
  <p:sldIdLst>
    <p:sldId id="256" r:id="rId2"/>
    <p:sldId id="257" r:id="rId3"/>
    <p:sldId id="265" r:id="rId4"/>
    <p:sldId id="258" r:id="rId5"/>
    <p:sldId id="272" r:id="rId6"/>
    <p:sldId id="274" r:id="rId7"/>
    <p:sldId id="271" r:id="rId8"/>
    <p:sldId id="270" r:id="rId9"/>
    <p:sldId id="266" r:id="rId10"/>
    <p:sldId id="268" r:id="rId11"/>
    <p:sldId id="261" r:id="rId12"/>
    <p:sldId id="260" r:id="rId13"/>
    <p:sldId id="278" r:id="rId14"/>
    <p:sldId id="269" r:id="rId15"/>
    <p:sldId id="273" r:id="rId16"/>
    <p:sldId id="276" r:id="rId17"/>
    <p:sldId id="277" r:id="rId18"/>
    <p:sldId id="264" r:id="rId19"/>
    <p:sldId id="267" r:id="rId20"/>
    <p:sldId id="26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57F1D5-588E-4192-A2B3-A94AF6350AE0}" v="272" dt="2025-04-09T18:53:46.673"/>
    <p1510:client id="{E3A6F0CB-C8D1-E808-0CEB-835ED1ABCE4C}" v="51" dt="2025-04-09T17:58:06.791"/>
  </p1510:revLst>
</p1510:revInfo>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5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E3A6F0CB-C8D1-E808-0CEB-835ED1ABCE4C}"/>
    <pc:docChg chg="modSld">
      <pc:chgData name="Guest User" userId="" providerId="Windows Live" clId="Web-{E3A6F0CB-C8D1-E808-0CEB-835ED1ABCE4C}" dt="2025-04-09T17:53:48.079" v="25"/>
      <pc:docMkLst>
        <pc:docMk/>
      </pc:docMkLst>
      <pc:sldChg chg="modSp">
        <pc:chgData name="Guest User" userId="" providerId="Windows Live" clId="Web-{E3A6F0CB-C8D1-E808-0CEB-835ED1ABCE4C}" dt="2025-04-09T17:53:48.079" v="25"/>
        <pc:sldMkLst>
          <pc:docMk/>
          <pc:sldMk cId="4124636020" sldId="273"/>
        </pc:sldMkLst>
        <pc:graphicFrameChg chg="mod modGraphic">
          <ac:chgData name="Guest User" userId="" providerId="Windows Live" clId="Web-{E3A6F0CB-C8D1-E808-0CEB-835ED1ABCE4C}" dt="2025-04-09T17:53:48.079" v="25"/>
          <ac:graphicFrameMkLst>
            <pc:docMk/>
            <pc:sldMk cId="4124636020" sldId="273"/>
            <ac:graphicFrameMk id="4" creationId="{742BFFA2-9597-B481-0A2E-470F4A96D56A}"/>
          </ac:graphicFrameMkLst>
        </pc:graphicFrameChg>
      </pc:sldChg>
    </pc:docChg>
  </pc:docChgLst>
  <pc:docChgLst>
    <pc:chgData name="Aayush Nanda" userId="acb3d5e152692482" providerId="LiveId" clId="{5257F1D5-588E-4192-A2B3-A94AF6350AE0}"/>
    <pc:docChg chg="undo redo custSel addSld modSld">
      <pc:chgData name="Aayush Nanda" userId="acb3d5e152692482" providerId="LiveId" clId="{5257F1D5-588E-4192-A2B3-A94AF6350AE0}" dt="2025-04-10T02:52:49.615" v="791" actId="255"/>
      <pc:docMkLst>
        <pc:docMk/>
      </pc:docMkLst>
      <pc:sldChg chg="modSp mod">
        <pc:chgData name="Aayush Nanda" userId="acb3d5e152692482" providerId="LiveId" clId="{5257F1D5-588E-4192-A2B3-A94AF6350AE0}" dt="2025-04-09T16:41:41.667" v="423" actId="1076"/>
        <pc:sldMkLst>
          <pc:docMk/>
          <pc:sldMk cId="3927318425" sldId="256"/>
        </pc:sldMkLst>
        <pc:spChg chg="mod">
          <ac:chgData name="Aayush Nanda" userId="acb3d5e152692482" providerId="LiveId" clId="{5257F1D5-588E-4192-A2B3-A94AF6350AE0}" dt="2025-04-09T16:41:41.667" v="423" actId="1076"/>
          <ac:spMkLst>
            <pc:docMk/>
            <pc:sldMk cId="3927318425" sldId="256"/>
            <ac:spMk id="5" creationId="{EE5B1B7C-3885-DEBD-2C25-01D7586DA62D}"/>
          </ac:spMkLst>
        </pc:spChg>
      </pc:sldChg>
      <pc:sldChg chg="modSp mod">
        <pc:chgData name="Aayush Nanda" userId="acb3d5e152692482" providerId="LiveId" clId="{5257F1D5-588E-4192-A2B3-A94AF6350AE0}" dt="2025-04-09T18:53:46.673" v="697" actId="1076"/>
        <pc:sldMkLst>
          <pc:docMk/>
          <pc:sldMk cId="1859027374" sldId="258"/>
        </pc:sldMkLst>
        <pc:spChg chg="mod">
          <ac:chgData name="Aayush Nanda" userId="acb3d5e152692482" providerId="LiveId" clId="{5257F1D5-588E-4192-A2B3-A94AF6350AE0}" dt="2025-04-09T18:53:46.673" v="697" actId="1076"/>
          <ac:spMkLst>
            <pc:docMk/>
            <pc:sldMk cId="1859027374" sldId="258"/>
            <ac:spMk id="5" creationId="{8D3F8A3F-7F41-8195-411F-5A744C38F463}"/>
          </ac:spMkLst>
        </pc:spChg>
      </pc:sldChg>
      <pc:sldChg chg="modSp mod">
        <pc:chgData name="Aayush Nanda" userId="acb3d5e152692482" providerId="LiveId" clId="{5257F1D5-588E-4192-A2B3-A94AF6350AE0}" dt="2025-04-09T17:16:00.809" v="508" actId="1076"/>
        <pc:sldMkLst>
          <pc:docMk/>
          <pc:sldMk cId="2114868729" sldId="260"/>
        </pc:sldMkLst>
        <pc:spChg chg="mod">
          <ac:chgData name="Aayush Nanda" userId="acb3d5e152692482" providerId="LiveId" clId="{5257F1D5-588E-4192-A2B3-A94AF6350AE0}" dt="2025-04-09T17:15:58.316" v="507" actId="1076"/>
          <ac:spMkLst>
            <pc:docMk/>
            <pc:sldMk cId="2114868729" sldId="260"/>
            <ac:spMk id="2" creationId="{F1335F89-34BE-D4CE-AF2E-53C98F03F297}"/>
          </ac:spMkLst>
        </pc:spChg>
        <pc:spChg chg="mod">
          <ac:chgData name="Aayush Nanda" userId="acb3d5e152692482" providerId="LiveId" clId="{5257F1D5-588E-4192-A2B3-A94AF6350AE0}" dt="2025-04-09T17:16:00.809" v="508" actId="1076"/>
          <ac:spMkLst>
            <pc:docMk/>
            <pc:sldMk cId="2114868729" sldId="260"/>
            <ac:spMk id="3" creationId="{1B9F1615-216A-0CA7-6A83-05017B22C1F5}"/>
          </ac:spMkLst>
        </pc:spChg>
      </pc:sldChg>
      <pc:sldChg chg="addSp delSp modSp mod">
        <pc:chgData name="Aayush Nanda" userId="acb3d5e152692482" providerId="LiveId" clId="{5257F1D5-588E-4192-A2B3-A94AF6350AE0}" dt="2025-04-09T17:08:14.911" v="465" actId="1076"/>
        <pc:sldMkLst>
          <pc:docMk/>
          <pc:sldMk cId="3499415053" sldId="261"/>
        </pc:sldMkLst>
        <pc:spChg chg="mod">
          <ac:chgData name="Aayush Nanda" userId="acb3d5e152692482" providerId="LiveId" clId="{5257F1D5-588E-4192-A2B3-A94AF6350AE0}" dt="2025-04-09T17:08:14.911" v="465" actId="1076"/>
          <ac:spMkLst>
            <pc:docMk/>
            <pc:sldMk cId="3499415053" sldId="261"/>
            <ac:spMk id="2" creationId="{F7ED7B9A-EA45-7D76-C10C-C5D6697BF4EE}"/>
          </ac:spMkLst>
        </pc:spChg>
        <pc:spChg chg="add del mod">
          <ac:chgData name="Aayush Nanda" userId="acb3d5e152692482" providerId="LiveId" clId="{5257F1D5-588E-4192-A2B3-A94AF6350AE0}" dt="2025-04-09T17:08:10.946" v="464" actId="1076"/>
          <ac:spMkLst>
            <pc:docMk/>
            <pc:sldMk cId="3499415053" sldId="261"/>
            <ac:spMk id="3" creationId="{94AA6E1A-6746-AFFA-306F-9CED41CE8CFB}"/>
          </ac:spMkLst>
        </pc:spChg>
        <pc:spChg chg="add">
          <ac:chgData name="Aayush Nanda" userId="acb3d5e152692482" providerId="LiveId" clId="{5257F1D5-588E-4192-A2B3-A94AF6350AE0}" dt="2025-04-09T17:07:31.106" v="447"/>
          <ac:spMkLst>
            <pc:docMk/>
            <pc:sldMk cId="3499415053" sldId="261"/>
            <ac:spMk id="4" creationId="{95707EDF-FC17-5747-94B5-3B323C32473C}"/>
          </ac:spMkLst>
        </pc:spChg>
        <pc:spChg chg="add mod">
          <ac:chgData name="Aayush Nanda" userId="acb3d5e152692482" providerId="LiveId" clId="{5257F1D5-588E-4192-A2B3-A94AF6350AE0}" dt="2025-04-09T17:07:43.152" v="454"/>
          <ac:spMkLst>
            <pc:docMk/>
            <pc:sldMk cId="3499415053" sldId="261"/>
            <ac:spMk id="5" creationId="{AF5F6397-F4AD-FC31-5EA1-6503A93ECA88}"/>
          </ac:spMkLst>
        </pc:spChg>
        <pc:spChg chg="add mod">
          <ac:chgData name="Aayush Nanda" userId="acb3d5e152692482" providerId="LiveId" clId="{5257F1D5-588E-4192-A2B3-A94AF6350AE0}" dt="2025-04-09T17:07:45.253" v="456"/>
          <ac:spMkLst>
            <pc:docMk/>
            <pc:sldMk cId="3499415053" sldId="261"/>
            <ac:spMk id="6" creationId="{355B0021-FB50-AA2B-1FFD-803257AB76A6}"/>
          </ac:spMkLst>
        </pc:spChg>
      </pc:sldChg>
      <pc:sldChg chg="modSp mod">
        <pc:chgData name="Aayush Nanda" userId="acb3d5e152692482" providerId="LiveId" clId="{5257F1D5-588E-4192-A2B3-A94AF6350AE0}" dt="2025-04-09T18:44:47.032" v="689" actId="1076"/>
        <pc:sldMkLst>
          <pc:docMk/>
          <pc:sldMk cId="154057630" sldId="263"/>
        </pc:sldMkLst>
        <pc:spChg chg="mod">
          <ac:chgData name="Aayush Nanda" userId="acb3d5e152692482" providerId="LiveId" clId="{5257F1D5-588E-4192-A2B3-A94AF6350AE0}" dt="2025-04-09T18:44:47.032" v="689" actId="1076"/>
          <ac:spMkLst>
            <pc:docMk/>
            <pc:sldMk cId="154057630" sldId="263"/>
            <ac:spMk id="3" creationId="{7841D922-2303-403B-C80C-06A700728C8F}"/>
          </ac:spMkLst>
        </pc:spChg>
      </pc:sldChg>
      <pc:sldChg chg="modSp mod">
        <pc:chgData name="Aayush Nanda" userId="acb3d5e152692482" providerId="LiveId" clId="{5257F1D5-588E-4192-A2B3-A94AF6350AE0}" dt="2025-04-09T18:54:23.686" v="700" actId="1076"/>
        <pc:sldMkLst>
          <pc:docMk/>
          <pc:sldMk cId="3192199516" sldId="266"/>
        </pc:sldMkLst>
        <pc:spChg chg="mod">
          <ac:chgData name="Aayush Nanda" userId="acb3d5e152692482" providerId="LiveId" clId="{5257F1D5-588E-4192-A2B3-A94AF6350AE0}" dt="2025-04-09T18:54:16.880" v="699" actId="1076"/>
          <ac:spMkLst>
            <pc:docMk/>
            <pc:sldMk cId="3192199516" sldId="266"/>
            <ac:spMk id="2" creationId="{F468C018-26FD-2031-438C-A6665ED39105}"/>
          </ac:spMkLst>
        </pc:spChg>
        <pc:spChg chg="mod">
          <ac:chgData name="Aayush Nanda" userId="acb3d5e152692482" providerId="LiveId" clId="{5257F1D5-588E-4192-A2B3-A94AF6350AE0}" dt="2025-04-09T18:54:23.686" v="700" actId="1076"/>
          <ac:spMkLst>
            <pc:docMk/>
            <pc:sldMk cId="3192199516" sldId="266"/>
            <ac:spMk id="3" creationId="{DBAD7C50-8EB5-1571-EC06-D8CBB38A03D9}"/>
          </ac:spMkLst>
        </pc:spChg>
      </pc:sldChg>
      <pc:sldChg chg="addSp delSp modSp mod">
        <pc:chgData name="Aayush Nanda" userId="acb3d5e152692482" providerId="LiveId" clId="{5257F1D5-588E-4192-A2B3-A94AF6350AE0}" dt="2025-04-09T14:12:46.434" v="20" actId="14100"/>
        <pc:sldMkLst>
          <pc:docMk/>
          <pc:sldMk cId="3038150649" sldId="269"/>
        </pc:sldMkLst>
        <pc:spChg chg="mod">
          <ac:chgData name="Aayush Nanda" userId="acb3d5e152692482" providerId="LiveId" clId="{5257F1D5-588E-4192-A2B3-A94AF6350AE0}" dt="2025-04-09T14:08:05.284" v="7" actId="1076"/>
          <ac:spMkLst>
            <pc:docMk/>
            <pc:sldMk cId="3038150649" sldId="269"/>
            <ac:spMk id="2" creationId="{DF40EB57-4439-BD76-9C53-5D1BE0AB3D3D}"/>
          </ac:spMkLst>
        </pc:spChg>
        <pc:spChg chg="del mod">
          <ac:chgData name="Aayush Nanda" userId="acb3d5e152692482" providerId="LiveId" clId="{5257F1D5-588E-4192-A2B3-A94AF6350AE0}" dt="2025-04-09T14:07:47.917" v="1" actId="22"/>
          <ac:spMkLst>
            <pc:docMk/>
            <pc:sldMk cId="3038150649" sldId="269"/>
            <ac:spMk id="3" creationId="{9A5963B5-C5FD-F00A-8F4A-215D10512994}"/>
          </ac:spMkLst>
        </pc:spChg>
        <pc:spChg chg="add mod">
          <ac:chgData name="Aayush Nanda" userId="acb3d5e152692482" providerId="LiveId" clId="{5257F1D5-588E-4192-A2B3-A94AF6350AE0}" dt="2025-04-09T14:12:28.748" v="14" actId="478"/>
          <ac:spMkLst>
            <pc:docMk/>
            <pc:sldMk cId="3038150649" sldId="269"/>
            <ac:spMk id="7" creationId="{89E7BD53-A609-3145-9AB4-06C21792BF71}"/>
          </ac:spMkLst>
        </pc:spChg>
        <pc:picChg chg="add del mod ord">
          <ac:chgData name="Aayush Nanda" userId="acb3d5e152692482" providerId="LiveId" clId="{5257F1D5-588E-4192-A2B3-A94AF6350AE0}" dt="2025-04-09T14:12:28.748" v="14" actId="478"/>
          <ac:picMkLst>
            <pc:docMk/>
            <pc:sldMk cId="3038150649" sldId="269"/>
            <ac:picMk id="5" creationId="{AC9DD24A-215B-F8F7-E212-36B9E90FC301}"/>
          </ac:picMkLst>
        </pc:picChg>
        <pc:picChg chg="add mod">
          <ac:chgData name="Aayush Nanda" userId="acb3d5e152692482" providerId="LiveId" clId="{5257F1D5-588E-4192-A2B3-A94AF6350AE0}" dt="2025-04-09T14:12:46.434" v="20" actId="14100"/>
          <ac:picMkLst>
            <pc:docMk/>
            <pc:sldMk cId="3038150649" sldId="269"/>
            <ac:picMk id="9" creationId="{9510F297-A59C-6E2F-1354-3B4CF94DC41E}"/>
          </ac:picMkLst>
        </pc:picChg>
      </pc:sldChg>
      <pc:sldChg chg="addSp modSp mod">
        <pc:chgData name="Aayush Nanda" userId="acb3d5e152692482" providerId="LiveId" clId="{5257F1D5-588E-4192-A2B3-A94AF6350AE0}" dt="2025-04-09T15:04:09.512" v="421" actId="20577"/>
        <pc:sldMkLst>
          <pc:docMk/>
          <pc:sldMk cId="4124636020" sldId="273"/>
        </pc:sldMkLst>
        <pc:spChg chg="mod">
          <ac:chgData name="Aayush Nanda" userId="acb3d5e152692482" providerId="LiveId" clId="{5257F1D5-588E-4192-A2B3-A94AF6350AE0}" dt="2025-04-09T14:57:39.575" v="367" actId="1076"/>
          <ac:spMkLst>
            <pc:docMk/>
            <pc:sldMk cId="4124636020" sldId="273"/>
            <ac:spMk id="2" creationId="{0B13A6A5-06AD-C5B2-0B46-379E7EE0A20C}"/>
          </ac:spMkLst>
        </pc:spChg>
        <pc:spChg chg="mod">
          <ac:chgData name="Aayush Nanda" userId="acb3d5e152692482" providerId="LiveId" clId="{5257F1D5-588E-4192-A2B3-A94AF6350AE0}" dt="2025-04-09T15:04:09.512" v="421" actId="20577"/>
          <ac:spMkLst>
            <pc:docMk/>
            <pc:sldMk cId="4124636020" sldId="273"/>
            <ac:spMk id="3" creationId="{4C85B69F-DAE3-2CB9-8021-98B8D8E98DDA}"/>
          </ac:spMkLst>
        </pc:spChg>
        <pc:graphicFrameChg chg="add mod modGraphic">
          <ac:chgData name="Aayush Nanda" userId="acb3d5e152692482" providerId="LiveId" clId="{5257F1D5-588E-4192-A2B3-A94AF6350AE0}" dt="2025-04-09T14:59:19.470" v="382" actId="1076"/>
          <ac:graphicFrameMkLst>
            <pc:docMk/>
            <pc:sldMk cId="4124636020" sldId="273"/>
            <ac:graphicFrameMk id="4" creationId="{742BFFA2-9597-B481-0A2E-470F4A96D56A}"/>
          </ac:graphicFrameMkLst>
        </pc:graphicFrameChg>
      </pc:sldChg>
      <pc:sldChg chg="addSp modSp mod">
        <pc:chgData name="Aayush Nanda" userId="acb3d5e152692482" providerId="LiveId" clId="{5257F1D5-588E-4192-A2B3-A94AF6350AE0}" dt="2025-04-09T18:57:42.936" v="782" actId="14100"/>
        <pc:sldMkLst>
          <pc:docMk/>
          <pc:sldMk cId="2121811968" sldId="276"/>
        </pc:sldMkLst>
        <pc:spChg chg="mod">
          <ac:chgData name="Aayush Nanda" userId="acb3d5e152692482" providerId="LiveId" clId="{5257F1D5-588E-4192-A2B3-A94AF6350AE0}" dt="2025-04-09T17:59:48.990" v="513" actId="1076"/>
          <ac:spMkLst>
            <pc:docMk/>
            <pc:sldMk cId="2121811968" sldId="276"/>
            <ac:spMk id="2" creationId="{6E88B48C-20B8-BC63-5E1B-0C290F5F038A}"/>
          </ac:spMkLst>
        </pc:spChg>
        <pc:spChg chg="mod">
          <ac:chgData name="Aayush Nanda" userId="acb3d5e152692482" providerId="LiveId" clId="{5257F1D5-588E-4192-A2B3-A94AF6350AE0}" dt="2025-04-09T18:57:42.936" v="782" actId="14100"/>
          <ac:spMkLst>
            <pc:docMk/>
            <pc:sldMk cId="2121811968" sldId="276"/>
            <ac:spMk id="3" creationId="{C7C665D9-C975-1A37-63BC-8CBE706B8AB0}"/>
          </ac:spMkLst>
        </pc:spChg>
        <pc:spChg chg="add">
          <ac:chgData name="Aayush Nanda" userId="acb3d5e152692482" providerId="LiveId" clId="{5257F1D5-588E-4192-A2B3-A94AF6350AE0}" dt="2025-04-09T18:18:28.130" v="676"/>
          <ac:spMkLst>
            <pc:docMk/>
            <pc:sldMk cId="2121811968" sldId="276"/>
            <ac:spMk id="4" creationId="{07646366-1E46-C326-56AF-99A15632E9D2}"/>
          </ac:spMkLst>
        </pc:spChg>
        <pc:spChg chg="add">
          <ac:chgData name="Aayush Nanda" userId="acb3d5e152692482" providerId="LiveId" clId="{5257F1D5-588E-4192-A2B3-A94AF6350AE0}" dt="2025-04-09T18:18:38.430" v="678"/>
          <ac:spMkLst>
            <pc:docMk/>
            <pc:sldMk cId="2121811968" sldId="276"/>
            <ac:spMk id="5" creationId="{1C64CD38-D5A4-3041-C6CD-AD3A3BA1468E}"/>
          </ac:spMkLst>
        </pc:spChg>
      </pc:sldChg>
      <pc:sldChg chg="modSp mod">
        <pc:chgData name="Aayush Nanda" userId="acb3d5e152692482" providerId="LiveId" clId="{5257F1D5-588E-4192-A2B3-A94AF6350AE0}" dt="2025-04-10T02:52:49.615" v="791" actId="255"/>
        <pc:sldMkLst>
          <pc:docMk/>
          <pc:sldMk cId="366329922" sldId="277"/>
        </pc:sldMkLst>
        <pc:spChg chg="mod">
          <ac:chgData name="Aayush Nanda" userId="acb3d5e152692482" providerId="LiveId" clId="{5257F1D5-588E-4192-A2B3-A94AF6350AE0}" dt="2025-04-10T02:52:49.615" v="791" actId="255"/>
          <ac:spMkLst>
            <pc:docMk/>
            <pc:sldMk cId="366329922" sldId="277"/>
            <ac:spMk id="3" creationId="{662AD9F1-3A7A-2664-FB6B-F480B90C8445}"/>
          </ac:spMkLst>
        </pc:spChg>
      </pc:sldChg>
      <pc:sldChg chg="add">
        <pc:chgData name="Aayush Nanda" userId="acb3d5e152692482" providerId="LiveId" clId="{5257F1D5-588E-4192-A2B3-A94AF6350AE0}" dt="2025-04-09T18:30:35.161" v="688" actId="2890"/>
        <pc:sldMkLst>
          <pc:docMk/>
          <pc:sldMk cId="4286722594"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C1D9FA-1D94-41E5-A94C-365472C25426}" type="datetimeFigureOut">
              <a:rPr lang="en-US" smtClean="0"/>
              <a:t>4/10/2025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463536-3D0F-4D0B-8BFB-3A65A18194C8}" type="slidenum">
              <a:rPr lang="en-US" smtClean="0"/>
              <a:t>‹#›</a:t>
            </a:fld>
            <a:endParaRPr lang="en-US"/>
          </a:p>
        </p:txBody>
      </p:sp>
    </p:spTree>
    <p:extLst>
      <p:ext uri="{BB962C8B-B14F-4D97-AF65-F5344CB8AC3E}">
        <p14:creationId xmlns:p14="http://schemas.microsoft.com/office/powerpoint/2010/main" val="22780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D96F2-02BD-E71F-EFBD-14FECCF2D331}"/>
              </a:ext>
            </a:extLst>
          </p:cNvPr>
          <p:cNvSpPr>
            <a:spLocks noGrp="1"/>
          </p:cNvSpPr>
          <p:nvPr>
            <p:ph type="ctrTitle"/>
          </p:nvPr>
        </p:nvSpPr>
        <p:spPr>
          <a:xfrm>
            <a:off x="1524000" y="1122362"/>
            <a:ext cx="7172325" cy="3152251"/>
          </a:xfrm>
        </p:spPr>
        <p:txBody>
          <a:bodyPr anchor="b">
            <a:normAutofit/>
          </a:bodyPr>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BBE90113-E8E1-4E48-41BC-583802BFC956}"/>
              </a:ext>
            </a:extLst>
          </p:cNvPr>
          <p:cNvSpPr>
            <a:spLocks noGrp="1"/>
          </p:cNvSpPr>
          <p:nvPr>
            <p:ph type="subTitle" idx="1"/>
          </p:nvPr>
        </p:nvSpPr>
        <p:spPr>
          <a:xfrm>
            <a:off x="1524000" y="4920137"/>
            <a:ext cx="7172325" cy="1122363"/>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FAC7EE5-BFF0-D779-4261-E239DB450A69}"/>
              </a:ext>
            </a:extLst>
          </p:cNvPr>
          <p:cNvSpPr>
            <a:spLocks noGrp="1"/>
          </p:cNvSpPr>
          <p:nvPr>
            <p:ph type="dt" sz="half" idx="10"/>
          </p:nvPr>
        </p:nvSpPr>
        <p:spPr/>
        <p:txBody>
          <a:bodyPr/>
          <a:lstStyle/>
          <a:p>
            <a:fld id="{9D0D92BC-42A9-434B-8530-ADBF4485E407}" type="datetimeFigureOut">
              <a:rPr lang="en-US" smtClean="0"/>
              <a:t>4/10/2025</a:t>
            </a:fld>
            <a:endParaRPr lang="en-US" dirty="0"/>
          </a:p>
        </p:txBody>
      </p:sp>
      <p:sp>
        <p:nvSpPr>
          <p:cNvPr id="5" name="Footer Placeholder 4">
            <a:extLst>
              <a:ext uri="{FF2B5EF4-FFF2-40B4-BE49-F238E27FC236}">
                <a16:creationId xmlns:a16="http://schemas.microsoft.com/office/drawing/2014/main" id="{63789492-34ED-FE24-4F29-E4C8F5497BE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FB0C886-7F1E-7BC1-9A9E-B24C2AC2F0F5}"/>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8" name="Straight Connector 7">
            <a:extLst>
              <a:ext uri="{FF2B5EF4-FFF2-40B4-BE49-F238E27FC236}">
                <a16:creationId xmlns:a16="http://schemas.microsoft.com/office/drawing/2014/main" id="{1C74AEE6-9CA7-5247-DC34-99634247DF50}"/>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10799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32FD-157B-437C-E9D5-B66E8B3B19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790A51-A7E8-7A6A-5FD0-F9B250BE41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8C8B8-F999-7D95-435D-17CE6ACCDC87}"/>
              </a:ext>
            </a:extLst>
          </p:cNvPr>
          <p:cNvSpPr>
            <a:spLocks noGrp="1"/>
          </p:cNvSpPr>
          <p:nvPr>
            <p:ph type="dt" sz="half" idx="10"/>
          </p:nvPr>
        </p:nvSpPr>
        <p:spPr/>
        <p:txBody>
          <a:bodyPr/>
          <a:lstStyle/>
          <a:p>
            <a:fld id="{9D0D92BC-42A9-434B-8530-ADBF4485E407}" type="datetimeFigureOut">
              <a:rPr lang="en-US" smtClean="0"/>
              <a:t>4/10/2025</a:t>
            </a:fld>
            <a:endParaRPr lang="en-US"/>
          </a:p>
        </p:txBody>
      </p:sp>
      <p:sp>
        <p:nvSpPr>
          <p:cNvPr id="5" name="Footer Placeholder 4">
            <a:extLst>
              <a:ext uri="{FF2B5EF4-FFF2-40B4-BE49-F238E27FC236}">
                <a16:creationId xmlns:a16="http://schemas.microsoft.com/office/drawing/2014/main" id="{6E427265-C89C-937F-1DA3-F377F6877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EB89E-4530-3632-3485-F481DB042ED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640917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8056A-761D-1DBC-276A-2A46D153C03F}"/>
              </a:ext>
            </a:extLst>
          </p:cNvPr>
          <p:cNvSpPr>
            <a:spLocks noGrp="1"/>
          </p:cNvSpPr>
          <p:nvPr>
            <p:ph type="title"/>
          </p:nvPr>
        </p:nvSpPr>
        <p:spPr>
          <a:xfrm>
            <a:off x="1471613" y="1355763"/>
            <a:ext cx="6972300" cy="2255794"/>
          </a:xfrm>
        </p:spPr>
        <p:txBody>
          <a:bodyPr anchor="t">
            <a:normAutofit/>
          </a:bodyPr>
          <a:lstStyle>
            <a:lvl1pPr>
              <a:lnSpc>
                <a:spcPct val="110000"/>
              </a:lnSpc>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193904B3-6AC1-19D5-3EAE-2009A3B4CE65}"/>
              </a:ext>
            </a:extLst>
          </p:cNvPr>
          <p:cNvSpPr>
            <a:spLocks noGrp="1"/>
          </p:cNvSpPr>
          <p:nvPr>
            <p:ph type="body" idx="1"/>
          </p:nvPr>
        </p:nvSpPr>
        <p:spPr>
          <a:xfrm>
            <a:off x="1524000" y="4921820"/>
            <a:ext cx="5524500" cy="1150934"/>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FA2A86D-493D-5BF6-8AA6-F1231E3BAE7D}"/>
              </a:ext>
            </a:extLst>
          </p:cNvPr>
          <p:cNvSpPr>
            <a:spLocks noGrp="1"/>
          </p:cNvSpPr>
          <p:nvPr>
            <p:ph type="dt" sz="half" idx="10"/>
          </p:nvPr>
        </p:nvSpPr>
        <p:spPr/>
        <p:txBody>
          <a:bodyPr/>
          <a:lstStyle/>
          <a:p>
            <a:fld id="{9D0D92BC-42A9-434B-8530-ADBF4485E407}" type="datetimeFigureOut">
              <a:rPr lang="en-US" smtClean="0"/>
              <a:t>4/10/2025</a:t>
            </a:fld>
            <a:endParaRPr lang="en-US"/>
          </a:p>
        </p:txBody>
      </p:sp>
      <p:sp>
        <p:nvSpPr>
          <p:cNvPr id="5" name="Footer Placeholder 4">
            <a:extLst>
              <a:ext uri="{FF2B5EF4-FFF2-40B4-BE49-F238E27FC236}">
                <a16:creationId xmlns:a16="http://schemas.microsoft.com/office/drawing/2014/main" id="{79CCCD76-6623-164A-7BFA-207AFA057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64312-1F20-5486-62B0-A8BB8829D6CA}"/>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4" name="Straight Connector 13">
            <a:extLst>
              <a:ext uri="{FF2B5EF4-FFF2-40B4-BE49-F238E27FC236}">
                <a16:creationId xmlns:a16="http://schemas.microsoft.com/office/drawing/2014/main" id="{4703F1C9-9114-4426-6F07-F7FF9CCD5FC4}"/>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09574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FC4C-4D16-E5A8-F934-8B158F6F273C}"/>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79BDE54-F935-945D-3E4F-B659695E84DA}"/>
              </a:ext>
            </a:extLst>
          </p:cNvPr>
          <p:cNvSpPr>
            <a:spLocks noGrp="1"/>
          </p:cNvSpPr>
          <p:nvPr>
            <p:ph sz="half" idx="1"/>
          </p:nvPr>
        </p:nvSpPr>
        <p:spPr>
          <a:xfrm>
            <a:off x="952500" y="2286002"/>
            <a:ext cx="5067300" cy="38909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28F3710-E06B-05DE-937A-C92E52569E34}"/>
              </a:ext>
            </a:extLst>
          </p:cNvPr>
          <p:cNvSpPr>
            <a:spLocks noGrp="1"/>
          </p:cNvSpPr>
          <p:nvPr>
            <p:ph sz="half" idx="2"/>
          </p:nvPr>
        </p:nvSpPr>
        <p:spPr>
          <a:xfrm>
            <a:off x="6172200" y="2286001"/>
            <a:ext cx="5067300" cy="38909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7302EFD-42D3-11C1-677E-0E478B93F7B2}"/>
              </a:ext>
            </a:extLst>
          </p:cNvPr>
          <p:cNvSpPr>
            <a:spLocks noGrp="1"/>
          </p:cNvSpPr>
          <p:nvPr>
            <p:ph type="dt" sz="half" idx="10"/>
          </p:nvPr>
        </p:nvSpPr>
        <p:spPr/>
        <p:txBody>
          <a:bodyPr/>
          <a:lstStyle/>
          <a:p>
            <a:fld id="{9D0D92BC-42A9-434B-8530-ADBF4485E407}" type="datetimeFigureOut">
              <a:rPr lang="en-US" smtClean="0"/>
              <a:t>4/10/2025</a:t>
            </a:fld>
            <a:endParaRPr lang="en-US"/>
          </a:p>
        </p:txBody>
      </p:sp>
      <p:sp>
        <p:nvSpPr>
          <p:cNvPr id="6" name="Footer Placeholder 5">
            <a:extLst>
              <a:ext uri="{FF2B5EF4-FFF2-40B4-BE49-F238E27FC236}">
                <a16:creationId xmlns:a16="http://schemas.microsoft.com/office/drawing/2014/main" id="{224C2F08-0D93-B14B-6106-2925DF3E16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DE81-F2AB-CCB9-8B68-5E4F31011FF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4055275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2D81B-4E36-1511-E9A7-8FB931B41FCF}"/>
              </a:ext>
            </a:extLst>
          </p:cNvPr>
          <p:cNvSpPr>
            <a:spLocks noGrp="1"/>
          </p:cNvSpPr>
          <p:nvPr>
            <p:ph type="title"/>
          </p:nvPr>
        </p:nvSpPr>
        <p:spPr>
          <a:xfrm>
            <a:off x="952500" y="1004888"/>
            <a:ext cx="10287000" cy="90011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7FA73DE-183B-9473-20AD-2D3BFED8439F}"/>
              </a:ext>
            </a:extLst>
          </p:cNvPr>
          <p:cNvSpPr>
            <a:spLocks noGrp="1"/>
          </p:cNvSpPr>
          <p:nvPr>
            <p:ph type="body" idx="1"/>
          </p:nvPr>
        </p:nvSpPr>
        <p:spPr>
          <a:xfrm>
            <a:off x="952501"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D70FB3D-60AC-DEF2-4472-31B4E076CBCC}"/>
              </a:ext>
            </a:extLst>
          </p:cNvPr>
          <p:cNvSpPr>
            <a:spLocks noGrp="1"/>
          </p:cNvSpPr>
          <p:nvPr>
            <p:ph sz="half" idx="2"/>
          </p:nvPr>
        </p:nvSpPr>
        <p:spPr>
          <a:xfrm>
            <a:off x="952501" y="3048001"/>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16E5BDB-B29C-788F-E2FB-6C154E8FE82E}"/>
              </a:ext>
            </a:extLst>
          </p:cNvPr>
          <p:cNvSpPr>
            <a:spLocks noGrp="1"/>
          </p:cNvSpPr>
          <p:nvPr>
            <p:ph type="body" sz="quarter" idx="3"/>
          </p:nvPr>
        </p:nvSpPr>
        <p:spPr>
          <a:xfrm>
            <a:off x="6353174"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513FF49-3276-24CA-BC81-FA92C0A9309A}"/>
              </a:ext>
            </a:extLst>
          </p:cNvPr>
          <p:cNvSpPr>
            <a:spLocks noGrp="1"/>
          </p:cNvSpPr>
          <p:nvPr>
            <p:ph sz="quarter" idx="4"/>
          </p:nvPr>
        </p:nvSpPr>
        <p:spPr>
          <a:xfrm>
            <a:off x="6353174" y="3048000"/>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E8FA1C8-C196-9BE1-F603-3FC17EDD91F8}"/>
              </a:ext>
            </a:extLst>
          </p:cNvPr>
          <p:cNvSpPr>
            <a:spLocks noGrp="1"/>
          </p:cNvSpPr>
          <p:nvPr>
            <p:ph type="dt" sz="half" idx="10"/>
          </p:nvPr>
        </p:nvSpPr>
        <p:spPr/>
        <p:txBody>
          <a:bodyPr/>
          <a:lstStyle/>
          <a:p>
            <a:fld id="{9D0D92BC-42A9-434B-8530-ADBF4485E407}" type="datetimeFigureOut">
              <a:rPr lang="en-US" smtClean="0"/>
              <a:t>4/10/2025</a:t>
            </a:fld>
            <a:endParaRPr lang="en-US"/>
          </a:p>
        </p:txBody>
      </p:sp>
      <p:sp>
        <p:nvSpPr>
          <p:cNvPr id="8" name="Footer Placeholder 7">
            <a:extLst>
              <a:ext uri="{FF2B5EF4-FFF2-40B4-BE49-F238E27FC236}">
                <a16:creationId xmlns:a16="http://schemas.microsoft.com/office/drawing/2014/main" id="{CFB79692-E142-E1D7-AD17-30C5F13657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90FCF2-7B78-2A2A-F878-58335FEA390C}"/>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1" name="Straight Connector 10">
            <a:extLst>
              <a:ext uri="{FF2B5EF4-FFF2-40B4-BE49-F238E27FC236}">
                <a16:creationId xmlns:a16="http://schemas.microsoft.com/office/drawing/2014/main" id="{BC2D0356-1ECF-682B-F87A-811BDD28B2CB}"/>
              </a:ext>
            </a:extLst>
          </p:cNvPr>
          <p:cNvCxnSpPr>
            <a:cxnSpLocks/>
          </p:cNvCxnSpPr>
          <p:nvPr/>
        </p:nvCxnSpPr>
        <p:spPr>
          <a:xfrm>
            <a:off x="1052513"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06CA06-9701-E645-C0A5-594B227B288F}"/>
              </a:ext>
            </a:extLst>
          </p:cNvPr>
          <p:cNvCxnSpPr>
            <a:cxnSpLocks/>
          </p:cNvCxnSpPr>
          <p:nvPr/>
        </p:nvCxnSpPr>
        <p:spPr>
          <a:xfrm>
            <a:off x="6435725"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5827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14DA-C0D4-E152-7F42-F6352C961E82}"/>
              </a:ext>
            </a:extLst>
          </p:cNvPr>
          <p:cNvSpPr>
            <a:spLocks noGrp="1"/>
          </p:cNvSpPr>
          <p:nvPr>
            <p:ph type="title"/>
          </p:nvPr>
        </p:nvSpPr>
        <p:spPr>
          <a:xfrm>
            <a:off x="1524000" y="914400"/>
            <a:ext cx="9715500" cy="9906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4EC2AA04-1E84-460C-F560-A228F930F0AF}"/>
              </a:ext>
            </a:extLst>
          </p:cNvPr>
          <p:cNvSpPr>
            <a:spLocks noGrp="1"/>
          </p:cNvSpPr>
          <p:nvPr>
            <p:ph type="dt" sz="half" idx="10"/>
          </p:nvPr>
        </p:nvSpPr>
        <p:spPr/>
        <p:txBody>
          <a:bodyPr/>
          <a:lstStyle/>
          <a:p>
            <a:fld id="{9D0D92BC-42A9-434B-8530-ADBF4485E407}" type="datetimeFigureOut">
              <a:rPr lang="en-US" smtClean="0"/>
              <a:t>4/10/2025</a:t>
            </a:fld>
            <a:endParaRPr lang="en-US"/>
          </a:p>
        </p:txBody>
      </p:sp>
      <p:sp>
        <p:nvSpPr>
          <p:cNvPr id="4" name="Footer Placeholder 3">
            <a:extLst>
              <a:ext uri="{FF2B5EF4-FFF2-40B4-BE49-F238E27FC236}">
                <a16:creationId xmlns:a16="http://schemas.microsoft.com/office/drawing/2014/main" id="{24AB260E-3910-7D1B-5074-24F5F0AB53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2020F1-A878-9B80-6B4F-7D71406BBF3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834960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7652D6-7AE9-3E3B-5C1B-2B4399B150D5}"/>
              </a:ext>
            </a:extLst>
          </p:cNvPr>
          <p:cNvSpPr>
            <a:spLocks noGrp="1"/>
          </p:cNvSpPr>
          <p:nvPr>
            <p:ph type="dt" sz="half" idx="10"/>
          </p:nvPr>
        </p:nvSpPr>
        <p:spPr/>
        <p:txBody>
          <a:bodyPr/>
          <a:lstStyle/>
          <a:p>
            <a:fld id="{9D0D92BC-42A9-434B-8530-ADBF4485E407}" type="datetimeFigureOut">
              <a:rPr lang="en-US" smtClean="0"/>
              <a:t>4/10/2025</a:t>
            </a:fld>
            <a:endParaRPr lang="en-US"/>
          </a:p>
        </p:txBody>
      </p:sp>
      <p:sp>
        <p:nvSpPr>
          <p:cNvPr id="3" name="Footer Placeholder 2">
            <a:extLst>
              <a:ext uri="{FF2B5EF4-FFF2-40B4-BE49-F238E27FC236}">
                <a16:creationId xmlns:a16="http://schemas.microsoft.com/office/drawing/2014/main" id="{A9A7127E-2A63-6F45-4C40-835843630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56FB79-D9D1-5381-0019-E24F8B4DAAB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014238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23B5-7DA9-0E4F-DA39-4624DB8A252E}"/>
              </a:ext>
            </a:extLst>
          </p:cNvPr>
          <p:cNvSpPr>
            <a:spLocks noGrp="1"/>
          </p:cNvSpPr>
          <p:nvPr>
            <p:ph type="title"/>
          </p:nvPr>
        </p:nvSpPr>
        <p:spPr>
          <a:xfrm>
            <a:off x="1524000" y="1369065"/>
            <a:ext cx="3266536" cy="2312979"/>
          </a:xfrm>
        </p:spPr>
        <p:txBody>
          <a:bodyPr anchor="b">
            <a:no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B94A5E77-518A-1FB9-B473-E19CADE04669}"/>
              </a:ext>
            </a:extLst>
          </p:cNvPr>
          <p:cNvSpPr>
            <a:spLocks noGrp="1"/>
          </p:cNvSpPr>
          <p:nvPr>
            <p:ph idx="1"/>
          </p:nvPr>
        </p:nvSpPr>
        <p:spPr>
          <a:xfrm>
            <a:off x="5624423" y="987425"/>
            <a:ext cx="5615077" cy="4873625"/>
          </a:xfrm>
        </p:spPr>
        <p:txBody>
          <a:bodyPr anchor="ct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365344F-7D06-2406-D113-D24587835D69}"/>
              </a:ext>
            </a:extLst>
          </p:cNvPr>
          <p:cNvSpPr>
            <a:spLocks noGrp="1"/>
          </p:cNvSpPr>
          <p:nvPr>
            <p:ph type="body" sz="half" idx="2"/>
          </p:nvPr>
        </p:nvSpPr>
        <p:spPr>
          <a:xfrm>
            <a:off x="1524000" y="3947801"/>
            <a:ext cx="3266536" cy="238283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22BE708-BAD0-A0A6-9332-9D2179E673FB}"/>
              </a:ext>
            </a:extLst>
          </p:cNvPr>
          <p:cNvSpPr>
            <a:spLocks noGrp="1"/>
          </p:cNvSpPr>
          <p:nvPr>
            <p:ph type="dt" sz="half" idx="10"/>
          </p:nvPr>
        </p:nvSpPr>
        <p:spPr/>
        <p:txBody>
          <a:bodyPr/>
          <a:lstStyle/>
          <a:p>
            <a:fld id="{9D0D92BC-42A9-434B-8530-ADBF4485E407}" type="datetimeFigureOut">
              <a:rPr lang="en-US" smtClean="0"/>
              <a:t>4/10/2025</a:t>
            </a:fld>
            <a:endParaRPr lang="en-US"/>
          </a:p>
        </p:txBody>
      </p:sp>
      <p:sp>
        <p:nvSpPr>
          <p:cNvPr id="6" name="Footer Placeholder 5">
            <a:extLst>
              <a:ext uri="{FF2B5EF4-FFF2-40B4-BE49-F238E27FC236}">
                <a16:creationId xmlns:a16="http://schemas.microsoft.com/office/drawing/2014/main" id="{F8A70050-9362-4EC4-6B73-3A38445B7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DA991-8608-CAB4-33FA-03D380D2F060}"/>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7729340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B837-332D-9100-E007-7DE279481410}"/>
              </a:ext>
            </a:extLst>
          </p:cNvPr>
          <p:cNvSpPr>
            <a:spLocks noGrp="1"/>
          </p:cNvSpPr>
          <p:nvPr>
            <p:ph type="title"/>
          </p:nvPr>
        </p:nvSpPr>
        <p:spPr>
          <a:xfrm>
            <a:off x="1523999" y="1385457"/>
            <a:ext cx="3312543" cy="2304288"/>
          </a:xfrm>
        </p:spPr>
        <p:txBody>
          <a:bodyPr anchor="b">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3E0DE983-0B0E-07CC-8C57-4EA529E27D19}"/>
              </a:ext>
            </a:extLst>
          </p:cNvPr>
          <p:cNvSpPr>
            <a:spLocks noGrp="1"/>
          </p:cNvSpPr>
          <p:nvPr>
            <p:ph type="pic" idx="1"/>
          </p:nvPr>
        </p:nvSpPr>
        <p:spPr>
          <a:xfrm>
            <a:off x="5624423" y="957263"/>
            <a:ext cx="5372189" cy="4962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CAB867-3FC6-5007-61B0-D9B7E5B0CED6}"/>
              </a:ext>
            </a:extLst>
          </p:cNvPr>
          <p:cNvSpPr>
            <a:spLocks noGrp="1"/>
          </p:cNvSpPr>
          <p:nvPr>
            <p:ph type="body" sz="half" idx="2"/>
          </p:nvPr>
        </p:nvSpPr>
        <p:spPr>
          <a:xfrm>
            <a:off x="1524000" y="3958315"/>
            <a:ext cx="3312542" cy="1961473"/>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6FC7E0F-BFE1-7134-163B-B777970B762A}"/>
              </a:ext>
            </a:extLst>
          </p:cNvPr>
          <p:cNvSpPr>
            <a:spLocks noGrp="1"/>
          </p:cNvSpPr>
          <p:nvPr>
            <p:ph type="dt" sz="half" idx="10"/>
          </p:nvPr>
        </p:nvSpPr>
        <p:spPr/>
        <p:txBody>
          <a:bodyPr/>
          <a:lstStyle/>
          <a:p>
            <a:fld id="{9D0D92BC-42A9-434B-8530-ADBF4485E407}" type="datetimeFigureOut">
              <a:rPr lang="en-US" smtClean="0"/>
              <a:t>4/10/2025</a:t>
            </a:fld>
            <a:endParaRPr lang="en-US"/>
          </a:p>
        </p:txBody>
      </p:sp>
      <p:sp>
        <p:nvSpPr>
          <p:cNvPr id="6" name="Footer Placeholder 5">
            <a:extLst>
              <a:ext uri="{FF2B5EF4-FFF2-40B4-BE49-F238E27FC236}">
                <a16:creationId xmlns:a16="http://schemas.microsoft.com/office/drawing/2014/main" id="{AD395D0B-4F98-F3BE-FB23-22D8C5D41F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B2E3D-2188-B7A9-0ECE-978147358479}"/>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252969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F4143-3C41-D626-8F64-36A9C9F1A606}"/>
              </a:ext>
            </a:extLst>
          </p:cNvPr>
          <p:cNvSpPr>
            <a:spLocks noGrp="1"/>
          </p:cNvSpPr>
          <p:nvPr>
            <p:ph type="title"/>
          </p:nvPr>
        </p:nvSpPr>
        <p:spPr>
          <a:xfrm>
            <a:off x="952500" y="914400"/>
            <a:ext cx="9962791" cy="990600"/>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52C4FB-B560-A0FC-6435-952981BC9A1D}"/>
              </a:ext>
            </a:extLst>
          </p:cNvPr>
          <p:cNvSpPr>
            <a:spLocks noGrp="1"/>
          </p:cNvSpPr>
          <p:nvPr>
            <p:ph type="body" orient="vert" idx="1"/>
          </p:nvPr>
        </p:nvSpPr>
        <p:spPr>
          <a:xfrm>
            <a:off x="952500" y="2285997"/>
            <a:ext cx="9962791" cy="38909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87CEC4F-0A90-11E2-E43E-B9E765AFBD3A}"/>
              </a:ext>
            </a:extLst>
          </p:cNvPr>
          <p:cNvSpPr>
            <a:spLocks noGrp="1"/>
          </p:cNvSpPr>
          <p:nvPr>
            <p:ph type="dt" sz="half" idx="10"/>
          </p:nvPr>
        </p:nvSpPr>
        <p:spPr/>
        <p:txBody>
          <a:bodyPr/>
          <a:lstStyle/>
          <a:p>
            <a:fld id="{9D0D92BC-42A9-434B-8530-ADBF4485E407}" type="datetimeFigureOut">
              <a:rPr lang="en-US" smtClean="0"/>
              <a:t>4/10/2025</a:t>
            </a:fld>
            <a:endParaRPr lang="en-US"/>
          </a:p>
        </p:txBody>
      </p:sp>
      <p:sp>
        <p:nvSpPr>
          <p:cNvPr id="5" name="Footer Placeholder 4">
            <a:extLst>
              <a:ext uri="{FF2B5EF4-FFF2-40B4-BE49-F238E27FC236}">
                <a16:creationId xmlns:a16="http://schemas.microsoft.com/office/drawing/2014/main" id="{51B2A5B4-1D77-B0AC-49E7-CAE9556B1C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96EF9-2FDA-8E87-D546-8840CEBF038C}"/>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1625473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085AB7-38B3-7F80-0B2D-7960F5637521}"/>
              </a:ext>
            </a:extLst>
          </p:cNvPr>
          <p:cNvSpPr>
            <a:spLocks noGrp="1"/>
          </p:cNvSpPr>
          <p:nvPr>
            <p:ph type="title" orient="vert"/>
          </p:nvPr>
        </p:nvSpPr>
        <p:spPr>
          <a:xfrm>
            <a:off x="9224513" y="1052423"/>
            <a:ext cx="1771292" cy="49170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B5ADBDC3-E9EA-8699-B2E4-4C7784455BA8}"/>
              </a:ext>
            </a:extLst>
          </p:cNvPr>
          <p:cNvSpPr>
            <a:spLocks noGrp="1"/>
          </p:cNvSpPr>
          <p:nvPr>
            <p:ph type="body" orient="vert" idx="1"/>
          </p:nvPr>
        </p:nvSpPr>
        <p:spPr>
          <a:xfrm>
            <a:off x="1006414" y="1052424"/>
            <a:ext cx="7873043" cy="49170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E1DBEDE-3A67-6FCA-25F3-B91F7C82ED89}"/>
              </a:ext>
            </a:extLst>
          </p:cNvPr>
          <p:cNvSpPr>
            <a:spLocks noGrp="1"/>
          </p:cNvSpPr>
          <p:nvPr>
            <p:ph type="dt" sz="half" idx="10"/>
          </p:nvPr>
        </p:nvSpPr>
        <p:spPr/>
        <p:txBody>
          <a:bodyPr/>
          <a:lstStyle/>
          <a:p>
            <a:fld id="{9D0D92BC-42A9-434B-8530-ADBF4485E407}" type="datetimeFigureOut">
              <a:rPr lang="en-US" smtClean="0"/>
              <a:t>4/10/2025</a:t>
            </a:fld>
            <a:endParaRPr lang="en-US"/>
          </a:p>
        </p:txBody>
      </p:sp>
      <p:sp>
        <p:nvSpPr>
          <p:cNvPr id="5" name="Footer Placeholder 4">
            <a:extLst>
              <a:ext uri="{FF2B5EF4-FFF2-40B4-BE49-F238E27FC236}">
                <a16:creationId xmlns:a16="http://schemas.microsoft.com/office/drawing/2014/main" id="{BB9EFF51-4318-20EA-3A3A-8FE203B1A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CD9703-5BAD-DE95-98D9-0F30E7C0937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2135795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258B98-3BD5-0A20-B0E7-944EAEB2654A}"/>
              </a:ext>
            </a:extLst>
          </p:cNvPr>
          <p:cNvSpPr/>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0D404C1-E8A5-65FC-C068-21EA0397ED63}"/>
              </a:ext>
            </a:extLst>
          </p:cNvPr>
          <p:cNvSpPr>
            <a:spLocks noGrp="1"/>
          </p:cNvSpPr>
          <p:nvPr>
            <p:ph type="title"/>
          </p:nvPr>
        </p:nvSpPr>
        <p:spPr>
          <a:xfrm>
            <a:off x="952500" y="757238"/>
            <a:ext cx="10287000" cy="11477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DCFD78-F171-BA47-AAF3-C6EB75F94C78}"/>
              </a:ext>
            </a:extLst>
          </p:cNvPr>
          <p:cNvSpPr>
            <a:spLocks noGrp="1"/>
          </p:cNvSpPr>
          <p:nvPr>
            <p:ph type="body" idx="1"/>
          </p:nvPr>
        </p:nvSpPr>
        <p:spPr>
          <a:xfrm>
            <a:off x="952500" y="2285997"/>
            <a:ext cx="10287000" cy="38909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5965A77-B1AB-D608-A6C5-F0F99B6913D8}"/>
              </a:ext>
            </a:extLst>
          </p:cNvPr>
          <p:cNvSpPr>
            <a:spLocks noGrp="1"/>
          </p:cNvSpPr>
          <p:nvPr>
            <p:ph type="dt" sz="half" idx="2"/>
          </p:nvPr>
        </p:nvSpPr>
        <p:spPr>
          <a:xfrm rot="5400000">
            <a:off x="10568087" y="4756249"/>
            <a:ext cx="2476307"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9D0D92BC-42A9-434B-8530-ADBF4485E407}" type="datetimeFigureOut">
              <a:rPr lang="en-US" smtClean="0"/>
              <a:pPr/>
              <a:t>4/10/2025</a:t>
            </a:fld>
            <a:endParaRPr lang="en-US" dirty="0"/>
          </a:p>
        </p:txBody>
      </p:sp>
      <p:sp>
        <p:nvSpPr>
          <p:cNvPr id="5" name="Footer Placeholder 4">
            <a:extLst>
              <a:ext uri="{FF2B5EF4-FFF2-40B4-BE49-F238E27FC236}">
                <a16:creationId xmlns:a16="http://schemas.microsoft.com/office/drawing/2014/main" id="{05DE34E5-5E9B-7786-05B5-B93241EE2F42}"/>
              </a:ext>
            </a:extLst>
          </p:cNvPr>
          <p:cNvSpPr>
            <a:spLocks noGrp="1"/>
          </p:cNvSpPr>
          <p:nvPr>
            <p:ph type="ftr" sz="quarter" idx="3"/>
          </p:nvPr>
        </p:nvSpPr>
        <p:spPr>
          <a:xfrm rot="5400000">
            <a:off x="10589519" y="1758059"/>
            <a:ext cx="2433442"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525CD4B-611E-32FA-419D-326099EEF340}"/>
              </a:ext>
            </a:extLst>
          </p:cNvPr>
          <p:cNvSpPr>
            <a:spLocks noGrp="1"/>
          </p:cNvSpPr>
          <p:nvPr>
            <p:ph type="sldNum" sz="quarter" idx="4"/>
          </p:nvPr>
        </p:nvSpPr>
        <p:spPr>
          <a:xfrm>
            <a:off x="11539542" y="3246437"/>
            <a:ext cx="533399" cy="365125"/>
          </a:xfrm>
          <a:prstGeom prst="rect">
            <a:avLst/>
          </a:prstGeom>
        </p:spPr>
        <p:txBody>
          <a:bodyPr vert="horz" lIns="91440" tIns="45720" rIns="91440" bIns="45720" rtlCol="0" anchor="ctr"/>
          <a:lstStyle>
            <a:lvl1pPr algn="ctr">
              <a:defRPr sz="1600" b="1" cap="all" baseline="0">
                <a:solidFill>
                  <a:schemeClr val="tx1"/>
                </a:solidFill>
                <a:latin typeface="+mj-lt"/>
              </a:defRPr>
            </a:lvl1pPr>
          </a:lstStyle>
          <a:p>
            <a:fld id="{A0289F9E-9962-4B7B-BA18-A15907CCC6BF}" type="slidenum">
              <a:rPr lang="en-US" smtClean="0"/>
              <a:pPr/>
              <a:t>‹#›</a:t>
            </a:fld>
            <a:endParaRPr lang="en-US" dirty="0"/>
          </a:p>
        </p:txBody>
      </p:sp>
      <p:pic>
        <p:nvPicPr>
          <p:cNvPr id="2050" name="Picture 2" descr="Sri Sri University - The Best of East and the Best of West">
            <a:extLst>
              <a:ext uri="{FF2B5EF4-FFF2-40B4-BE49-F238E27FC236}">
                <a16:creationId xmlns:a16="http://schemas.microsoft.com/office/drawing/2014/main" id="{BCEFEE4D-A063-3A3C-BBD3-51E8D8C11FA7}"/>
              </a:ext>
            </a:extLst>
          </p:cNvPr>
          <p:cNvPicPr>
            <a:picLocks noChangeAspect="1" noChangeArrowheads="1"/>
          </p:cNvPicPr>
          <p:nvPr userDrawn="1"/>
        </p:nvPicPr>
        <p:blipFill>
          <a:blip r:embed="rId13">
            <a:alphaModFix amt="20000"/>
            <a:extLst>
              <a:ext uri="{28A0092B-C50C-407E-A947-70E740481C1C}">
                <a14:useLocalDpi xmlns:a14="http://schemas.microsoft.com/office/drawing/2010/main" val="0"/>
              </a:ext>
            </a:extLst>
          </a:blip>
          <a:srcRect/>
          <a:stretch>
            <a:fillRect/>
          </a:stretch>
        </p:blipFill>
        <p:spPr bwMode="auto">
          <a:xfrm>
            <a:off x="3565121" y="2734722"/>
            <a:ext cx="5061758" cy="175368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88A91E5-787E-CE5C-812E-3C97862D4A0B}"/>
              </a:ext>
            </a:extLst>
          </p:cNvPr>
          <p:cNvSpPr txBox="1"/>
          <p:nvPr userDrawn="1"/>
        </p:nvSpPr>
        <p:spPr>
          <a:xfrm>
            <a:off x="3965448" y="6180789"/>
            <a:ext cx="4261104" cy="646331"/>
          </a:xfrm>
          <a:prstGeom prst="rect">
            <a:avLst/>
          </a:prstGeom>
          <a:noFill/>
        </p:spPr>
        <p:txBody>
          <a:bodyPr wrap="square" rtlCol="0">
            <a:spAutoFit/>
          </a:bodyPr>
          <a:lstStyle/>
          <a:p>
            <a:pPr algn="ctr"/>
            <a:r>
              <a:rPr lang="en-US" dirty="0"/>
              <a:t>Faculty of Engineering and Technology,</a:t>
            </a:r>
          </a:p>
          <a:p>
            <a:pPr algn="ctr"/>
            <a:r>
              <a:rPr lang="en-US" dirty="0"/>
              <a:t>Sri Sri University, Cuttack.</a:t>
            </a:r>
          </a:p>
        </p:txBody>
      </p:sp>
    </p:spTree>
    <p:extLst>
      <p:ext uri="{BB962C8B-B14F-4D97-AF65-F5344CB8AC3E}">
        <p14:creationId xmlns:p14="http://schemas.microsoft.com/office/powerpoint/2010/main" val="3398358351"/>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0" r:id="rId6"/>
    <p:sldLayoutId id="2147483726" r:id="rId7"/>
    <p:sldLayoutId id="2147483727" r:id="rId8"/>
    <p:sldLayoutId id="2147483728" r:id="rId9"/>
    <p:sldLayoutId id="2147483729" r:id="rId10"/>
    <p:sldLayoutId id="2147483731" r:id="rId11"/>
  </p:sldLayoutIdLst>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56032"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21208"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39496"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3210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F58CAA-5B54-5B37-8027-05F3D0E7DADE}"/>
              </a:ext>
            </a:extLst>
          </p:cNvPr>
          <p:cNvSpPr/>
          <p:nvPr/>
        </p:nvSpPr>
        <p:spPr>
          <a:xfrm>
            <a:off x="0" y="0"/>
            <a:ext cx="12412494" cy="6955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5E89AF0-59A2-6C3B-22E1-9A83DE76FEC7}"/>
              </a:ext>
            </a:extLst>
          </p:cNvPr>
          <p:cNvSpPr>
            <a:spLocks noGrp="1"/>
          </p:cNvSpPr>
          <p:nvPr>
            <p:ph type="ctrTitle"/>
          </p:nvPr>
        </p:nvSpPr>
        <p:spPr>
          <a:xfrm>
            <a:off x="1988981" y="665919"/>
            <a:ext cx="8214037" cy="1450961"/>
          </a:xfrm>
        </p:spPr>
        <p:txBody>
          <a:bodyPr anchor="b">
            <a:noAutofit/>
          </a:bodyPr>
          <a:lstStyle/>
          <a:p>
            <a:pPr algn="ctr"/>
            <a:r>
              <a:rPr lang="en-US" sz="3400" dirty="0">
                <a:latin typeface="Times New Roman" panose="02020603050405020304" pitchFamily="18" charset="0"/>
                <a:cs typeface="Times New Roman" panose="02020603050405020304" pitchFamily="18" charset="0"/>
              </a:rPr>
              <a:t>Project Presentation</a:t>
            </a:r>
            <a:br>
              <a:rPr lang="en-US" sz="34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on</a:t>
            </a:r>
            <a:br>
              <a:rPr lang="en-US" sz="3400" dirty="0">
                <a:latin typeface="Times New Roman" panose="02020603050405020304" pitchFamily="18" charset="0"/>
                <a:cs typeface="Times New Roman" panose="02020603050405020304" pitchFamily="18" charset="0"/>
              </a:rPr>
            </a:br>
            <a:r>
              <a:rPr lang="en-US" sz="3400" dirty="0">
                <a:latin typeface="Times New Roman" panose="02020603050405020304" pitchFamily="18" charset="0"/>
                <a:cs typeface="Times New Roman" panose="02020603050405020304" pitchFamily="18" charset="0"/>
              </a:rPr>
              <a:t>Bank network</a:t>
            </a:r>
          </a:p>
        </p:txBody>
      </p:sp>
      <p:sp>
        <p:nvSpPr>
          <p:cNvPr id="3" name="Subtitle 2">
            <a:extLst>
              <a:ext uri="{FF2B5EF4-FFF2-40B4-BE49-F238E27FC236}">
                <a16:creationId xmlns:a16="http://schemas.microsoft.com/office/drawing/2014/main" id="{E0F71FBA-E594-2569-D21A-2E9B6F2F3FC6}"/>
              </a:ext>
            </a:extLst>
          </p:cNvPr>
          <p:cNvSpPr>
            <a:spLocks noGrp="1"/>
          </p:cNvSpPr>
          <p:nvPr>
            <p:ph type="subTitle" idx="1"/>
          </p:nvPr>
        </p:nvSpPr>
        <p:spPr>
          <a:xfrm>
            <a:off x="258754" y="2445777"/>
            <a:ext cx="5837245" cy="1966445"/>
          </a:xfrm>
        </p:spPr>
        <p:txBody>
          <a:bodyPr>
            <a:noAutofit/>
          </a:bodyPr>
          <a:lstStyle/>
          <a:p>
            <a:pPr>
              <a:lnSpc>
                <a:spcPts val="3150"/>
              </a:lnSpc>
              <a:buNone/>
            </a:pPr>
            <a:r>
              <a:rPr lang="en-IN" i="0" dirty="0">
                <a:solidFill>
                  <a:srgbClr val="000000"/>
                </a:solidFill>
                <a:effectLst/>
                <a:latin typeface="Times New Roman" panose="02020603050405020304" pitchFamily="18" charset="0"/>
                <a:cs typeface="Times New Roman" panose="02020603050405020304" pitchFamily="18" charset="0"/>
              </a:rPr>
              <a:t>AMRUTANSHU PUHAN, FET-BCD-2023-27-013</a:t>
            </a:r>
            <a:endParaRPr lang="en-IN" dirty="0">
              <a:solidFill>
                <a:srgbClr val="000000"/>
              </a:solidFill>
              <a:effectLst/>
              <a:latin typeface="Times New Roman" panose="02020603050405020304" pitchFamily="18" charset="0"/>
              <a:cs typeface="Times New Roman" panose="02020603050405020304" pitchFamily="18" charset="0"/>
            </a:endParaRPr>
          </a:p>
          <a:p>
            <a:pPr>
              <a:lnSpc>
                <a:spcPts val="3150"/>
              </a:lnSpc>
              <a:buNone/>
            </a:pPr>
            <a:r>
              <a:rPr lang="en-IN" i="0" dirty="0">
                <a:solidFill>
                  <a:srgbClr val="000000"/>
                </a:solidFill>
                <a:effectLst/>
                <a:latin typeface="Times New Roman" panose="02020603050405020304" pitchFamily="18" charset="0"/>
                <a:cs typeface="Times New Roman" panose="02020603050405020304" pitchFamily="18" charset="0"/>
              </a:rPr>
              <a:t>AAYUSH NANDA, FET-BCD-2023-27-017</a:t>
            </a:r>
            <a:endParaRPr lang="en-IN" dirty="0">
              <a:solidFill>
                <a:srgbClr val="000000"/>
              </a:solidFill>
              <a:effectLst/>
              <a:latin typeface="Times New Roman" panose="02020603050405020304" pitchFamily="18" charset="0"/>
              <a:cs typeface="Times New Roman" panose="02020603050405020304" pitchFamily="18" charset="0"/>
            </a:endParaRPr>
          </a:p>
          <a:p>
            <a:pPr>
              <a:lnSpc>
                <a:spcPts val="3150"/>
              </a:lnSpc>
              <a:buNone/>
            </a:pPr>
            <a:r>
              <a:rPr lang="en-IN" i="0" dirty="0">
                <a:solidFill>
                  <a:srgbClr val="000000"/>
                </a:solidFill>
                <a:effectLst/>
                <a:latin typeface="Times New Roman" panose="02020603050405020304" pitchFamily="18" charset="0"/>
                <a:cs typeface="Times New Roman" panose="02020603050405020304" pitchFamily="18" charset="0"/>
              </a:rPr>
              <a:t>ANKIT DAS, FET-BCD-2023-27-018</a:t>
            </a:r>
            <a:endParaRPr lang="en-IN" dirty="0">
              <a:solidFill>
                <a:srgbClr val="000000"/>
              </a:solidFill>
              <a:effectLst/>
              <a:latin typeface="Times New Roman" panose="02020603050405020304" pitchFamily="18" charset="0"/>
              <a:cs typeface="Times New Roman" panose="02020603050405020304" pitchFamily="18" charset="0"/>
            </a:endParaRPr>
          </a:p>
          <a:p>
            <a:pPr>
              <a:lnSpc>
                <a:spcPts val="3150"/>
              </a:lnSpc>
            </a:pPr>
            <a:r>
              <a:rPr lang="en-IN" i="0" dirty="0">
                <a:solidFill>
                  <a:srgbClr val="000000"/>
                </a:solidFill>
                <a:effectLst/>
                <a:latin typeface="Times New Roman" panose="02020603050405020304" pitchFamily="18" charset="0"/>
                <a:cs typeface="Times New Roman" panose="02020603050405020304" pitchFamily="18" charset="0"/>
              </a:rPr>
              <a:t>NIKITA PRIYADARSHINI, FET-BCD-2023-27-019</a:t>
            </a:r>
            <a:endParaRPr lang="en-IN" dirty="0">
              <a:solidFill>
                <a:srgbClr val="000000"/>
              </a:solidFill>
              <a:effectLst/>
              <a:latin typeface="Times New Roman" panose="02020603050405020304" pitchFamily="18" charset="0"/>
              <a:cs typeface="Times New Roman" panose="02020603050405020304" pitchFamily="18" charset="0"/>
            </a:endParaRPr>
          </a:p>
        </p:txBody>
      </p:sp>
      <p:pic>
        <p:nvPicPr>
          <p:cNvPr id="1026" name="Picture 2" descr="Sri Sri University - The Best of East and the Best of West">
            <a:extLst>
              <a:ext uri="{FF2B5EF4-FFF2-40B4-BE49-F238E27FC236}">
                <a16:creationId xmlns:a16="http://schemas.microsoft.com/office/drawing/2014/main" id="{99DD7663-6944-636D-4253-8884687B366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35457" y="4565155"/>
            <a:ext cx="3721086" cy="1289194"/>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EE5B1B7C-3885-DEBD-2C25-01D7586DA62D}"/>
              </a:ext>
            </a:extLst>
          </p:cNvPr>
          <p:cNvSpPr txBox="1">
            <a:spLocks/>
          </p:cNvSpPr>
          <p:nvPr/>
        </p:nvSpPr>
        <p:spPr>
          <a:xfrm>
            <a:off x="6258436" y="2902225"/>
            <a:ext cx="5674810" cy="877585"/>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Tx/>
              <a:buNone/>
              <a:defRPr sz="2000" b="1"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Tx/>
              <a:buNone/>
              <a:defRPr sz="1600" b="1"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3150"/>
              </a:lnSpc>
            </a:pPr>
            <a:r>
              <a:rPr lang="en-IN" i="0" dirty="0">
                <a:solidFill>
                  <a:srgbClr val="000000"/>
                </a:solidFill>
                <a:effectLst/>
                <a:latin typeface="Times New Roman" panose="02020603050405020304" pitchFamily="18" charset="0"/>
                <a:cs typeface="Times New Roman" panose="02020603050405020304" pitchFamily="18" charset="0"/>
              </a:rPr>
              <a:t>DR.PRABHUDUTTA PRADHAN, INTERNAL MENTOR</a:t>
            </a:r>
          </a:p>
          <a:p>
            <a:pPr>
              <a:lnSpc>
                <a:spcPts val="3150"/>
              </a:lnSpc>
              <a:buNone/>
            </a:pPr>
            <a:r>
              <a:rPr lang="en-IN" i="0" dirty="0">
                <a:solidFill>
                  <a:srgbClr val="000000"/>
                </a:solidFill>
                <a:effectLst/>
                <a:latin typeface="Times New Roman" panose="02020603050405020304" pitchFamily="18" charset="0"/>
                <a:cs typeface="Times New Roman" panose="02020603050405020304" pitchFamily="18" charset="0"/>
              </a:rPr>
              <a:t>MS.NEHA BAGLE, EXTERNAL MENTOR</a:t>
            </a:r>
            <a:endParaRPr lang="en-IN" dirty="0">
              <a:solidFill>
                <a:srgbClr val="000000"/>
              </a:solidFill>
              <a:effectLst/>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488539BF-6E28-EF93-325E-7A45899DC8AC}"/>
              </a:ext>
            </a:extLst>
          </p:cNvPr>
          <p:cNvSpPr txBox="1">
            <a:spLocks/>
          </p:cNvSpPr>
          <p:nvPr/>
        </p:nvSpPr>
        <p:spPr>
          <a:xfrm>
            <a:off x="2066599" y="5966020"/>
            <a:ext cx="8279296" cy="877585"/>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Tx/>
              <a:buNone/>
              <a:defRPr sz="2000" b="1"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Tx/>
              <a:buNone/>
              <a:defRPr sz="1600" b="1"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2400" b="1" dirty="0">
                <a:latin typeface="Times New Roman" panose="02020603050405020304" pitchFamily="18" charset="0"/>
                <a:cs typeface="Times New Roman" panose="02020603050405020304" pitchFamily="18" charset="0"/>
              </a:rPr>
              <a:t>Faculty of Engineering &amp; Technology,</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Sri </a:t>
            </a:r>
            <a:r>
              <a:rPr lang="en-US" sz="2400" b="1" dirty="0" err="1">
                <a:latin typeface="Times New Roman" panose="02020603050405020304" pitchFamily="18" charset="0"/>
                <a:cs typeface="Times New Roman" panose="02020603050405020304" pitchFamily="18" charset="0"/>
              </a:rPr>
              <a:t>Sri</a:t>
            </a:r>
            <a:r>
              <a:rPr lang="en-US" sz="2400" b="1" dirty="0">
                <a:latin typeface="Times New Roman" panose="02020603050405020304" pitchFamily="18" charset="0"/>
                <a:cs typeface="Times New Roman" panose="02020603050405020304" pitchFamily="18" charset="0"/>
              </a:rPr>
              <a:t> University, Cuttack.</a:t>
            </a:r>
          </a:p>
        </p:txBody>
      </p:sp>
    </p:spTree>
    <p:extLst>
      <p:ext uri="{BB962C8B-B14F-4D97-AF65-F5344CB8AC3E}">
        <p14:creationId xmlns:p14="http://schemas.microsoft.com/office/powerpoint/2010/main" val="392731842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92867-10CE-D2D2-9F6F-B26BE299BD26}"/>
              </a:ext>
            </a:extLst>
          </p:cNvPr>
          <p:cNvSpPr>
            <a:spLocks noGrp="1"/>
          </p:cNvSpPr>
          <p:nvPr>
            <p:ph type="title"/>
          </p:nvPr>
        </p:nvSpPr>
        <p:spPr>
          <a:xfrm>
            <a:off x="952500" y="555522"/>
            <a:ext cx="10287000" cy="1147762"/>
          </a:xfrm>
        </p:spPr>
        <p:txBody>
          <a:bodyPr anchor="t"/>
          <a:lstStyle/>
          <a:p>
            <a:r>
              <a:rPr lang="en-US"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C0BA8946-4A0F-451A-27A6-F37E98E1E8B6}"/>
              </a:ext>
            </a:extLst>
          </p:cNvPr>
          <p:cNvSpPr>
            <a:spLocks noGrp="1"/>
          </p:cNvSpPr>
          <p:nvPr>
            <p:ph idx="1"/>
          </p:nvPr>
        </p:nvSpPr>
        <p:spPr>
          <a:xfrm>
            <a:off x="952500" y="1217893"/>
            <a:ext cx="10287000" cy="4996093"/>
          </a:xfrm>
        </p:spPr>
        <p:txBody>
          <a:bodyPr>
            <a:normAutofit fontScale="85000" lnSpcReduction="20000"/>
          </a:bodyPr>
          <a:lstStyle/>
          <a:p>
            <a:r>
              <a:rPr lang="en-US" sz="2000" dirty="0">
                <a:latin typeface="Times New Roman" panose="02020603050405020304" pitchFamily="18" charset="0"/>
                <a:cs typeface="Times New Roman" panose="02020603050405020304" pitchFamily="18" charset="0"/>
              </a:rPr>
              <a:t>Abstract </a:t>
            </a:r>
          </a:p>
          <a:p>
            <a:r>
              <a:rPr lang="en-US" sz="2000" dirty="0">
                <a:latin typeface="Times New Roman" panose="02020603050405020304" pitchFamily="18" charset="0"/>
                <a:cs typeface="Times New Roman" panose="02020603050405020304" pitchFamily="18" charset="0"/>
              </a:rPr>
              <a:t>Introduction</a:t>
            </a:r>
          </a:p>
          <a:p>
            <a:r>
              <a:rPr lang="en-US" sz="2000" dirty="0">
                <a:latin typeface="Times New Roman" panose="02020603050405020304" pitchFamily="18" charset="0"/>
                <a:cs typeface="Times New Roman" panose="02020603050405020304" pitchFamily="18" charset="0"/>
              </a:rPr>
              <a:t>Literature Review</a:t>
            </a:r>
          </a:p>
          <a:p>
            <a:r>
              <a:rPr lang="en-US" sz="2000" dirty="0">
                <a:latin typeface="Times New Roman" panose="02020603050405020304" pitchFamily="18" charset="0"/>
                <a:cs typeface="Times New Roman" panose="02020603050405020304" pitchFamily="18" charset="0"/>
              </a:rPr>
              <a:t>Objective</a:t>
            </a:r>
          </a:p>
          <a:p>
            <a:r>
              <a:rPr lang="en-US" sz="2000" dirty="0">
                <a:latin typeface="Times New Roman" panose="02020603050405020304" pitchFamily="18" charset="0"/>
                <a:cs typeface="Times New Roman" panose="02020603050405020304" pitchFamily="18" charset="0"/>
              </a:rPr>
              <a:t>Motivation</a:t>
            </a:r>
          </a:p>
          <a:p>
            <a:r>
              <a:rPr lang="en-US" sz="2000" dirty="0">
                <a:latin typeface="Times New Roman" panose="02020603050405020304" pitchFamily="18" charset="0"/>
                <a:cs typeface="Times New Roman" panose="02020603050405020304" pitchFamily="18" charset="0"/>
              </a:rPr>
              <a:t>Problem Statement</a:t>
            </a:r>
          </a:p>
          <a:p>
            <a:r>
              <a:rPr lang="en-IN" sz="2000" dirty="0">
                <a:latin typeface="Times New Roman" panose="02020603050405020304" pitchFamily="18" charset="0"/>
                <a:cs typeface="Times New Roman" panose="02020603050405020304" pitchFamily="18" charset="0"/>
              </a:rPr>
              <a:t>Proposed Solution</a:t>
            </a:r>
          </a:p>
          <a:p>
            <a:r>
              <a:rPr lang="en-IN" sz="2000" dirty="0">
                <a:latin typeface="Times New Roman" panose="02020603050405020304" pitchFamily="18" charset="0"/>
                <a:cs typeface="Times New Roman" panose="02020603050405020304" pitchFamily="18" charset="0"/>
              </a:rPr>
              <a:t>System Design</a:t>
            </a:r>
          </a:p>
          <a:p>
            <a:r>
              <a:rPr lang="en-IN" sz="2000" dirty="0">
                <a:latin typeface="Times New Roman" panose="02020603050405020304" pitchFamily="18" charset="0"/>
                <a:cs typeface="Times New Roman" panose="02020603050405020304" pitchFamily="18" charset="0"/>
              </a:rPr>
              <a:t>Technical Details</a:t>
            </a:r>
          </a:p>
          <a:p>
            <a:r>
              <a:rPr lang="en-IN" sz="2000" dirty="0">
                <a:latin typeface="Times New Roman" panose="02020603050405020304" pitchFamily="18" charset="0"/>
                <a:cs typeface="Times New Roman" panose="02020603050405020304" pitchFamily="18" charset="0"/>
              </a:rPr>
              <a:t>Implementation </a:t>
            </a:r>
          </a:p>
          <a:p>
            <a:r>
              <a:rPr lang="en-IN" sz="2000" dirty="0">
                <a:latin typeface="Times New Roman" panose="02020603050405020304" pitchFamily="18" charset="0"/>
                <a:cs typeface="Times New Roman" panose="02020603050405020304" pitchFamily="18" charset="0"/>
              </a:rPr>
              <a:t>Testing &amp; Results </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Conclusion</a:t>
            </a:r>
          </a:p>
          <a:p>
            <a:r>
              <a:rPr lang="en-US" sz="2000" dirty="0">
                <a:latin typeface="Times New Roman" panose="02020603050405020304" pitchFamily="18" charset="0"/>
                <a:cs typeface="Times New Roman" panose="02020603050405020304" pitchFamily="18" charset="0"/>
              </a:rPr>
              <a:t>References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8897884"/>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FED31-AAA0-D3B4-9455-61CB2A1F9A93}"/>
              </a:ext>
            </a:extLst>
          </p:cNvPr>
          <p:cNvSpPr>
            <a:spLocks noGrp="1"/>
          </p:cNvSpPr>
          <p:nvPr>
            <p:ph type="title"/>
          </p:nvPr>
        </p:nvSpPr>
        <p:spPr>
          <a:xfrm>
            <a:off x="1072243" y="718212"/>
            <a:ext cx="10287000" cy="646331"/>
          </a:xfrm>
        </p:spPr>
        <p:txBody>
          <a:bodyPr anchor="t"/>
          <a:lstStyle/>
          <a:p>
            <a:r>
              <a:rPr lang="en-US"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1A6A89A-B7F1-2C9C-6E95-A736D17A2F9A}"/>
              </a:ext>
            </a:extLst>
          </p:cNvPr>
          <p:cNvSpPr>
            <a:spLocks noGrp="1"/>
          </p:cNvSpPr>
          <p:nvPr>
            <p:ph idx="1"/>
          </p:nvPr>
        </p:nvSpPr>
        <p:spPr>
          <a:xfrm>
            <a:off x="1072243" y="1581062"/>
            <a:ext cx="10687138" cy="4767274"/>
          </a:xfrm>
        </p:spPr>
        <p:txBody>
          <a:bodyPr>
            <a:normAutofit/>
          </a:bodyPr>
          <a:lstStyle/>
          <a:p>
            <a:pPr marL="0" indent="0" algn="just">
              <a:lnSpc>
                <a:spcPct val="160000"/>
              </a:lnSpc>
              <a:buNone/>
            </a:pPr>
            <a:r>
              <a:rPr lang="en-US" b="0" i="0" dirty="0">
                <a:solidFill>
                  <a:srgbClr val="000000"/>
                </a:solidFill>
                <a:effectLst/>
                <a:latin typeface="Times New Roman" panose="02020603050405020304" pitchFamily="18" charset="0"/>
                <a:cs typeface="Times New Roman" panose="02020603050405020304" pitchFamily="18" charset="0"/>
              </a:rPr>
              <a:t>This project focus on designing and implementing secure and reliable bank network. Utilizing advanced encryption protocols and network segmentation to safeguard financial data and prevent unauthorized access. Ensuring minimal downtime and seamless connectivity through efficient network management and security measures. Building a resilient, future-proof banking network that can withstand cyber threats and operational challenges.</a:t>
            </a:r>
            <a:endParaRPr lang="en-US"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B0782BAB-6115-58D2-FD41-6716EE7B6B1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5094A683-7160-83FB-A52F-3C56CD5FF74C}"/>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6983839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1E0D9-651B-A40A-C77C-AF4BC13FF342}"/>
              </a:ext>
            </a:extLst>
          </p:cNvPr>
          <p:cNvSpPr>
            <a:spLocks noGrp="1"/>
          </p:cNvSpPr>
          <p:nvPr>
            <p:ph type="title"/>
          </p:nvPr>
        </p:nvSpPr>
        <p:spPr>
          <a:xfrm>
            <a:off x="883674" y="133312"/>
            <a:ext cx="10287000" cy="1147762"/>
          </a:xfrm>
        </p:spPr>
        <p:txBody>
          <a:bodyPr anchor="t"/>
          <a:lstStyle/>
          <a:p>
            <a:r>
              <a:rPr lang="en-US" dirty="0">
                <a:latin typeface="Times New Roman" panose="02020603050405020304" pitchFamily="18" charset="0"/>
                <a:cs typeface="Times New Roman" panose="02020603050405020304" pitchFamily="18" charset="0"/>
              </a:rPr>
              <a:t>Introduction</a:t>
            </a:r>
          </a:p>
        </p:txBody>
      </p:sp>
      <p:sp>
        <p:nvSpPr>
          <p:cNvPr id="5" name="Rectangle 2">
            <a:extLst>
              <a:ext uri="{FF2B5EF4-FFF2-40B4-BE49-F238E27FC236}">
                <a16:creationId xmlns:a16="http://schemas.microsoft.com/office/drawing/2014/main" id="{8D3F8A3F-7F41-8195-411F-5A744C38F463}"/>
              </a:ext>
            </a:extLst>
          </p:cNvPr>
          <p:cNvSpPr>
            <a:spLocks noGrp="1" noChangeArrowheads="1"/>
          </p:cNvSpPr>
          <p:nvPr>
            <p:ph idx="1"/>
          </p:nvPr>
        </p:nvSpPr>
        <p:spPr bwMode="auto">
          <a:xfrm>
            <a:off x="635139" y="789816"/>
            <a:ext cx="10784070" cy="5278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nSpc>
                <a:spcPct val="100000"/>
              </a:lnSpc>
              <a:spcBef>
                <a:spcPts val="600"/>
              </a:spcBef>
              <a:buNone/>
            </a:pPr>
            <a:r>
              <a:rPr lang="en-US" b="1" i="0" dirty="0">
                <a:solidFill>
                  <a:srgbClr val="000000"/>
                </a:solidFill>
                <a:effectLst/>
                <a:latin typeface="Times New Roman" panose="02020603050405020304" pitchFamily="18" charset="0"/>
                <a:cs typeface="Times New Roman" panose="02020603050405020304" pitchFamily="18" charset="0"/>
              </a:rPr>
              <a:t>Project Domain:</a:t>
            </a:r>
            <a:endParaRPr lang="en-US"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600"/>
              </a:spcBef>
              <a:buNone/>
            </a:pPr>
            <a:r>
              <a:rPr lang="en-US" b="0" i="0" dirty="0">
                <a:solidFill>
                  <a:srgbClr val="000000"/>
                </a:solidFill>
                <a:effectLst/>
                <a:latin typeface="Times New Roman" panose="02020603050405020304" pitchFamily="18" charset="0"/>
                <a:cs typeface="Times New Roman" panose="02020603050405020304" pitchFamily="18" charset="0"/>
              </a:rPr>
              <a:t>Banking Network Security</a:t>
            </a:r>
            <a:endParaRPr lang="en-US" dirty="0">
              <a:solidFill>
                <a:srgbClr val="000000"/>
              </a:solidFill>
              <a:effectLst/>
              <a:latin typeface="Times New Roman" panose="02020603050405020304" pitchFamily="18" charset="0"/>
              <a:cs typeface="Times New Roman" panose="02020603050405020304" pitchFamily="18" charset="0"/>
            </a:endParaRPr>
          </a:p>
          <a:p>
            <a:pPr>
              <a:lnSpc>
                <a:spcPct val="100000"/>
              </a:lnSpc>
              <a:spcBef>
                <a:spcPts val="600"/>
              </a:spcBef>
              <a:buNone/>
            </a:pPr>
            <a:r>
              <a:rPr lang="en-US" b="1" i="0" dirty="0">
                <a:solidFill>
                  <a:srgbClr val="000000"/>
                </a:solidFill>
                <a:effectLst/>
                <a:latin typeface="Times New Roman" panose="02020603050405020304" pitchFamily="18" charset="0"/>
                <a:cs typeface="Times New Roman" panose="02020603050405020304" pitchFamily="18" charset="0"/>
              </a:rPr>
              <a:t>Project Statement:</a:t>
            </a:r>
            <a:endParaRPr lang="en-US" dirty="0">
              <a:solidFill>
                <a:srgbClr val="000000"/>
              </a:solidFill>
              <a:effectLst/>
              <a:latin typeface="Times New Roman" panose="02020603050405020304" pitchFamily="18" charset="0"/>
              <a:cs typeface="Times New Roman" panose="02020603050405020304" pitchFamily="18" charset="0"/>
            </a:endParaRPr>
          </a:p>
          <a:p>
            <a:pPr>
              <a:lnSpc>
                <a:spcPct val="100000"/>
              </a:lnSpc>
              <a:spcBef>
                <a:spcPts val="600"/>
              </a:spcBef>
              <a:buNone/>
            </a:pPr>
            <a:r>
              <a:rPr lang="en-US" b="0" i="0" dirty="0">
                <a:solidFill>
                  <a:srgbClr val="000000"/>
                </a:solidFill>
                <a:effectLst/>
                <a:latin typeface="Times New Roman" panose="02020603050405020304" pitchFamily="18" charset="0"/>
                <a:cs typeface="Times New Roman" panose="02020603050405020304" pitchFamily="18" charset="0"/>
              </a:rPr>
              <a:t>To build a scalable and resilient banking infrastructure that ensures security, reliability, and seamless connectivity in the face of increasing cyber threat.</a:t>
            </a:r>
            <a:endParaRPr lang="en-US" dirty="0">
              <a:solidFill>
                <a:srgbClr val="000000"/>
              </a:solidFill>
              <a:effectLst/>
              <a:latin typeface="Times New Roman" panose="02020603050405020304" pitchFamily="18" charset="0"/>
              <a:cs typeface="Times New Roman" panose="02020603050405020304" pitchFamily="18" charset="0"/>
            </a:endParaRPr>
          </a:p>
          <a:p>
            <a:pPr>
              <a:lnSpc>
                <a:spcPct val="100000"/>
              </a:lnSpc>
              <a:spcBef>
                <a:spcPts val="600"/>
              </a:spcBef>
              <a:buNone/>
            </a:pPr>
            <a:r>
              <a:rPr lang="en-US" b="1" i="0" dirty="0">
                <a:solidFill>
                  <a:srgbClr val="000000"/>
                </a:solidFill>
                <a:effectLst/>
                <a:latin typeface="Times New Roman" panose="02020603050405020304" pitchFamily="18" charset="0"/>
                <a:cs typeface="Times New Roman" panose="02020603050405020304" pitchFamily="18" charset="0"/>
              </a:rPr>
              <a:t>Importance: </a:t>
            </a:r>
            <a:endParaRPr lang="en-US" dirty="0">
              <a:solidFill>
                <a:srgbClr val="000000"/>
              </a:solidFill>
              <a:effectLst/>
              <a:latin typeface="Times New Roman" panose="02020603050405020304" pitchFamily="18" charset="0"/>
              <a:cs typeface="Times New Roman" panose="02020603050405020304" pitchFamily="18" charset="0"/>
            </a:endParaRPr>
          </a:p>
          <a:p>
            <a:pPr>
              <a:lnSpc>
                <a:spcPct val="100000"/>
              </a:lnSpc>
              <a:spcBef>
                <a:spcPts val="600"/>
              </a:spcBef>
              <a:buNone/>
            </a:pPr>
            <a:r>
              <a:rPr lang="en-US" b="0" i="0" dirty="0">
                <a:solidFill>
                  <a:srgbClr val="000000"/>
                </a:solidFill>
                <a:effectLst/>
                <a:latin typeface="Times New Roman" panose="02020603050405020304" pitchFamily="18" charset="0"/>
                <a:cs typeface="Times New Roman" panose="02020603050405020304" pitchFamily="18" charset="0"/>
              </a:rPr>
              <a:t>Banks handle sensitive transactions, making them prime targets for cyber threats.</a:t>
            </a:r>
            <a:endParaRPr lang="en-US" dirty="0">
              <a:solidFill>
                <a:srgbClr val="000000"/>
              </a:solidFill>
              <a:effectLst/>
              <a:latin typeface="Times New Roman" panose="02020603050405020304" pitchFamily="18" charset="0"/>
              <a:cs typeface="Times New Roman" panose="02020603050405020304" pitchFamily="18" charset="0"/>
            </a:endParaRPr>
          </a:p>
          <a:p>
            <a:pPr>
              <a:lnSpc>
                <a:spcPct val="100000"/>
              </a:lnSpc>
              <a:spcBef>
                <a:spcPts val="600"/>
              </a:spcBef>
              <a:buNone/>
            </a:pPr>
            <a:r>
              <a:rPr lang="en-US" b="1" i="0" dirty="0">
                <a:solidFill>
                  <a:srgbClr val="000000"/>
                </a:solidFill>
                <a:effectLst/>
                <a:latin typeface="Times New Roman" panose="02020603050405020304" pitchFamily="18" charset="0"/>
                <a:cs typeface="Times New Roman" panose="02020603050405020304" pitchFamily="18" charset="0"/>
              </a:rPr>
              <a:t>Relevance: </a:t>
            </a:r>
            <a:endParaRPr lang="en-US" dirty="0">
              <a:solidFill>
                <a:srgbClr val="000000"/>
              </a:solidFill>
              <a:effectLst/>
              <a:latin typeface="Times New Roman" panose="02020603050405020304" pitchFamily="18" charset="0"/>
              <a:cs typeface="Times New Roman" panose="02020603050405020304" pitchFamily="18" charset="0"/>
            </a:endParaRPr>
          </a:p>
          <a:p>
            <a:pPr>
              <a:lnSpc>
                <a:spcPct val="100000"/>
              </a:lnSpc>
              <a:spcBef>
                <a:spcPts val="600"/>
              </a:spcBef>
              <a:buNone/>
            </a:pPr>
            <a:r>
              <a:rPr lang="en-US" b="0" i="0" dirty="0">
                <a:solidFill>
                  <a:srgbClr val="000000"/>
                </a:solidFill>
                <a:effectLst/>
                <a:latin typeface="Times New Roman" panose="02020603050405020304" pitchFamily="18" charset="0"/>
                <a:cs typeface="Times New Roman" panose="02020603050405020304" pitchFamily="18" charset="0"/>
              </a:rPr>
              <a:t>This project is relevant because it provides a practical approach in securing banking networks, offering solutions</a:t>
            </a:r>
            <a:r>
              <a:rPr lang="en-US" dirty="0">
                <a:solidFill>
                  <a:srgbClr val="000000"/>
                </a:solidFill>
                <a:latin typeface="Times New Roman" panose="02020603050405020304" pitchFamily="18" charset="0"/>
                <a:cs typeface="Times New Roman" panose="02020603050405020304" pitchFamily="18" charset="0"/>
              </a:rPr>
              <a:t> </a:t>
            </a:r>
            <a:r>
              <a:rPr lang="en-US" b="0" i="0" dirty="0">
                <a:solidFill>
                  <a:srgbClr val="000000"/>
                </a:solidFill>
                <a:effectLst/>
                <a:latin typeface="Times New Roman" panose="02020603050405020304" pitchFamily="18" charset="0"/>
                <a:cs typeface="Times New Roman" panose="02020603050405020304" pitchFamily="18" charset="0"/>
              </a:rPr>
              <a:t>that can be implemented to protect sensitive data.</a:t>
            </a:r>
            <a:endParaRPr lang="en-US" dirty="0">
              <a:solidFill>
                <a:srgbClr val="000000"/>
              </a:solidFill>
              <a:effectLst/>
              <a:latin typeface="Times New Roman" panose="02020603050405020304" pitchFamily="18" charset="0"/>
              <a:cs typeface="Times New Roman" panose="02020603050405020304" pitchFamily="18" charset="0"/>
            </a:endParaRPr>
          </a:p>
          <a:p>
            <a:pPr>
              <a:lnSpc>
                <a:spcPct val="100000"/>
              </a:lnSpc>
              <a:spcBef>
                <a:spcPts val="600"/>
              </a:spcBef>
              <a:buNone/>
            </a:pPr>
            <a:r>
              <a:rPr lang="en-US" b="1" i="0" dirty="0">
                <a:solidFill>
                  <a:srgbClr val="000000"/>
                </a:solidFill>
                <a:effectLst/>
                <a:latin typeface="Times New Roman" panose="02020603050405020304" pitchFamily="18" charset="0"/>
                <a:cs typeface="Times New Roman" panose="02020603050405020304" pitchFamily="18" charset="0"/>
              </a:rPr>
              <a:t>Network Design: </a:t>
            </a:r>
            <a:endParaRPr lang="en-US" dirty="0">
              <a:solidFill>
                <a:srgbClr val="000000"/>
              </a:solidFill>
              <a:effectLst/>
              <a:latin typeface="Times New Roman" panose="02020603050405020304" pitchFamily="18" charset="0"/>
              <a:cs typeface="Times New Roman" panose="02020603050405020304" pitchFamily="18" charset="0"/>
            </a:endParaRPr>
          </a:p>
          <a:p>
            <a:pPr>
              <a:lnSpc>
                <a:spcPct val="100000"/>
              </a:lnSpc>
              <a:spcBef>
                <a:spcPts val="600"/>
              </a:spcBef>
              <a:buNone/>
            </a:pPr>
            <a:r>
              <a:rPr lang="en-US" b="0" i="0" dirty="0">
                <a:solidFill>
                  <a:srgbClr val="000000"/>
                </a:solidFill>
                <a:effectLst/>
                <a:latin typeface="Times New Roman" panose="02020603050405020304" pitchFamily="18" charset="0"/>
                <a:cs typeface="Times New Roman" panose="02020603050405020304" pitchFamily="18" charset="0"/>
              </a:rPr>
              <a:t>The network design incorporates key elements such as VLAN segmentation, a DMZ, and potentially a hierarchical topology.</a:t>
            </a:r>
            <a:endParaRPr lang="en-US" dirty="0">
              <a:solidFill>
                <a:srgbClr val="000000"/>
              </a:solidFill>
              <a:effectLst/>
              <a:latin typeface="Times New Roman" panose="02020603050405020304" pitchFamily="18" charset="0"/>
              <a:cs typeface="Times New Roman" panose="02020603050405020304" pitchFamily="18" charset="0"/>
            </a:endParaRPr>
          </a:p>
          <a:p>
            <a:pPr>
              <a:lnSpc>
                <a:spcPct val="100000"/>
              </a:lnSpc>
              <a:spcBef>
                <a:spcPts val="600"/>
              </a:spcBef>
              <a:buNone/>
            </a:pPr>
            <a:r>
              <a:rPr lang="en-US" b="1" i="0" dirty="0">
                <a:solidFill>
                  <a:srgbClr val="000000"/>
                </a:solidFill>
                <a:effectLst/>
                <a:latin typeface="Times New Roman" panose="02020603050405020304" pitchFamily="18" charset="0"/>
                <a:cs typeface="Times New Roman" panose="02020603050405020304" pitchFamily="18" charset="0"/>
              </a:rPr>
              <a:t>Security Focus: </a:t>
            </a:r>
            <a:endParaRPr lang="en-US" dirty="0">
              <a:solidFill>
                <a:srgbClr val="000000"/>
              </a:solidFill>
              <a:effectLst/>
              <a:latin typeface="Times New Roman" panose="02020603050405020304" pitchFamily="18" charset="0"/>
              <a:cs typeface="Times New Roman" panose="02020603050405020304" pitchFamily="18" charset="0"/>
            </a:endParaRPr>
          </a:p>
          <a:p>
            <a:pPr marL="0" indent="0">
              <a:lnSpc>
                <a:spcPct val="100000"/>
              </a:lnSpc>
              <a:spcBef>
                <a:spcPts val="600"/>
              </a:spcBef>
              <a:buNone/>
            </a:pPr>
            <a:r>
              <a:rPr lang="en-US" b="0" i="0" dirty="0">
                <a:solidFill>
                  <a:srgbClr val="000000"/>
                </a:solidFill>
                <a:effectLst/>
                <a:latin typeface="Times New Roman" panose="02020603050405020304" pitchFamily="18" charset="0"/>
                <a:cs typeface="Times New Roman" panose="02020603050405020304" pitchFamily="18" charset="0"/>
              </a:rPr>
              <a:t>The project's security focus includes implementing encryption for data protection, firewalls, and access control lists (ACLs) to safeguard sensitive data</a:t>
            </a:r>
            <a:endParaRPr lang="en-US"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902737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D98B3-F6EB-6043-4E2B-3ED8AB7476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CD704-9845-BA30-41F3-31176089B2A9}"/>
              </a:ext>
            </a:extLst>
          </p:cNvPr>
          <p:cNvSpPr>
            <a:spLocks noGrp="1"/>
          </p:cNvSpPr>
          <p:nvPr>
            <p:ph type="title"/>
          </p:nvPr>
        </p:nvSpPr>
        <p:spPr>
          <a:xfrm>
            <a:off x="952500" y="117987"/>
            <a:ext cx="10287000" cy="766762"/>
          </a:xfrm>
        </p:spPr>
        <p:txBody>
          <a:bodyPr anchor="t"/>
          <a:lstStyle/>
          <a:p>
            <a:r>
              <a:rPr lang="en-US" dirty="0">
                <a:latin typeface="Times New Roman" panose="02020603050405020304" pitchFamily="18" charset="0"/>
                <a:cs typeface="Times New Roman" panose="02020603050405020304" pitchFamily="18" charset="0"/>
              </a:rPr>
              <a:t>Literature Survey/ Existing Work</a:t>
            </a:r>
          </a:p>
        </p:txBody>
      </p:sp>
      <p:graphicFrame>
        <p:nvGraphicFramePr>
          <p:cNvPr id="8" name="Content Placeholder 3">
            <a:extLst>
              <a:ext uri="{FF2B5EF4-FFF2-40B4-BE49-F238E27FC236}">
                <a16:creationId xmlns:a16="http://schemas.microsoft.com/office/drawing/2014/main" id="{DEE4BC2C-3377-F18C-1954-0BA6109F1D31}"/>
              </a:ext>
            </a:extLst>
          </p:cNvPr>
          <p:cNvGraphicFramePr>
            <a:graphicFrameLocks/>
          </p:cNvGraphicFramePr>
          <p:nvPr>
            <p:extLst>
              <p:ext uri="{D42A27DB-BD31-4B8C-83A1-F6EECF244321}">
                <p14:modId xmlns:p14="http://schemas.microsoft.com/office/powerpoint/2010/main" val="1070955606"/>
              </p:ext>
            </p:extLst>
          </p:nvPr>
        </p:nvGraphicFramePr>
        <p:xfrm>
          <a:off x="594537" y="783519"/>
          <a:ext cx="11002925" cy="5786409"/>
        </p:xfrm>
        <a:graphic>
          <a:graphicData uri="http://schemas.openxmlformats.org/drawingml/2006/table">
            <a:tbl>
              <a:tblPr>
                <a:tableStyleId>{D7AC3CCA-C797-4891-BE02-D94E43425B78}</a:tableStyleId>
              </a:tblPr>
              <a:tblGrid>
                <a:gridCol w="846203">
                  <a:extLst>
                    <a:ext uri="{9D8B030D-6E8A-4147-A177-3AD203B41FA5}">
                      <a16:colId xmlns:a16="http://schemas.microsoft.com/office/drawing/2014/main" val="3600491401"/>
                    </a:ext>
                  </a:extLst>
                </a:gridCol>
                <a:gridCol w="1553497">
                  <a:extLst>
                    <a:ext uri="{9D8B030D-6E8A-4147-A177-3AD203B41FA5}">
                      <a16:colId xmlns:a16="http://schemas.microsoft.com/office/drawing/2014/main" val="1722143225"/>
                    </a:ext>
                  </a:extLst>
                </a:gridCol>
                <a:gridCol w="778054">
                  <a:extLst>
                    <a:ext uri="{9D8B030D-6E8A-4147-A177-3AD203B41FA5}">
                      <a16:colId xmlns:a16="http://schemas.microsoft.com/office/drawing/2014/main" val="2332127981"/>
                    </a:ext>
                  </a:extLst>
                </a:gridCol>
                <a:gridCol w="1565034">
                  <a:extLst>
                    <a:ext uri="{9D8B030D-6E8A-4147-A177-3AD203B41FA5}">
                      <a16:colId xmlns:a16="http://schemas.microsoft.com/office/drawing/2014/main" val="3036803402"/>
                    </a:ext>
                  </a:extLst>
                </a:gridCol>
                <a:gridCol w="1727466">
                  <a:extLst>
                    <a:ext uri="{9D8B030D-6E8A-4147-A177-3AD203B41FA5}">
                      <a16:colId xmlns:a16="http://schemas.microsoft.com/office/drawing/2014/main" val="911376678"/>
                    </a:ext>
                  </a:extLst>
                </a:gridCol>
                <a:gridCol w="1676311">
                  <a:extLst>
                    <a:ext uri="{9D8B030D-6E8A-4147-A177-3AD203B41FA5}">
                      <a16:colId xmlns:a16="http://schemas.microsoft.com/office/drawing/2014/main" val="621933530"/>
                    </a:ext>
                  </a:extLst>
                </a:gridCol>
                <a:gridCol w="1368080">
                  <a:extLst>
                    <a:ext uri="{9D8B030D-6E8A-4147-A177-3AD203B41FA5}">
                      <a16:colId xmlns:a16="http://schemas.microsoft.com/office/drawing/2014/main" val="1482389531"/>
                    </a:ext>
                  </a:extLst>
                </a:gridCol>
                <a:gridCol w="1488280">
                  <a:extLst>
                    <a:ext uri="{9D8B030D-6E8A-4147-A177-3AD203B41FA5}">
                      <a16:colId xmlns:a16="http://schemas.microsoft.com/office/drawing/2014/main" val="3475837534"/>
                    </a:ext>
                  </a:extLst>
                </a:gridCol>
              </a:tblGrid>
              <a:tr h="603767">
                <a:tc>
                  <a:txBody>
                    <a:bodyPr/>
                    <a:lstStyle/>
                    <a:p>
                      <a:pPr algn="ctr"/>
                      <a:r>
                        <a:rPr lang="en-US" b="1" dirty="0">
                          <a:latin typeface="Times New Roman" panose="02020603050405020304" pitchFamily="18" charset="0"/>
                          <a:cs typeface="Times New Roman" panose="02020603050405020304" pitchFamily="18" charset="0"/>
                        </a:rPr>
                        <a:t>S. No.</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Author(s)</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Year</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Title</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a:latin typeface="Times New Roman" panose="02020603050405020304" pitchFamily="18" charset="0"/>
                          <a:cs typeface="Times New Roman" panose="02020603050405020304" pitchFamily="18" charset="0"/>
                        </a:rPr>
                        <a:t>Objective</a:t>
                      </a:r>
                      <a:endParaRPr lang="en-US">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a:latin typeface="Times New Roman" panose="02020603050405020304" pitchFamily="18" charset="0"/>
                          <a:cs typeface="Times New Roman" panose="02020603050405020304" pitchFamily="18" charset="0"/>
                        </a:rPr>
                        <a:t>Methodology</a:t>
                      </a:r>
                      <a:endParaRPr lang="en-US">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a:latin typeface="Times New Roman" panose="02020603050405020304" pitchFamily="18" charset="0"/>
                          <a:cs typeface="Times New Roman" panose="02020603050405020304" pitchFamily="18" charset="0"/>
                        </a:rPr>
                        <a:t>Key Findings</a:t>
                      </a:r>
                      <a:endParaRPr lang="en-US">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Gaps Identified</a:t>
                      </a:r>
                      <a:endParaRPr 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974650814"/>
                  </a:ext>
                </a:extLst>
              </a:tr>
              <a:tr h="2494569">
                <a:tc>
                  <a:txBody>
                    <a:bodyPr/>
                    <a:lstStyle/>
                    <a:p>
                      <a:pPr algn="ctr"/>
                      <a:r>
                        <a:rPr lang="en-US" sz="1400" b="0" dirty="0">
                          <a:latin typeface="Times New Roman" panose="02020603050405020304" pitchFamily="18" charset="0"/>
                          <a:cs typeface="Times New Roman" panose="02020603050405020304" pitchFamily="18" charset="0"/>
                        </a:rPr>
                        <a:t>1</a:t>
                      </a:r>
                    </a:p>
                  </a:txBody>
                  <a:tcPr anchor="ctr">
                    <a:noFill/>
                  </a:tcPr>
                </a:tc>
                <a:tc>
                  <a:txBody>
                    <a:bodyPr/>
                    <a:lstStyle/>
                    <a:p>
                      <a:pPr algn="ct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K. </a:t>
                      </a:r>
                      <a:r>
                        <a:rPr lang="en-IN" sz="1400" b="0" i="0" kern="1200" dirty="0" err="1">
                          <a:solidFill>
                            <a:schemeClr val="dk1"/>
                          </a:solidFill>
                          <a:effectLst/>
                          <a:latin typeface="Times New Roman" panose="02020603050405020304" pitchFamily="18" charset="0"/>
                          <a:ea typeface="+mn-ea"/>
                          <a:cs typeface="Times New Roman" panose="02020603050405020304" pitchFamily="18" charset="0"/>
                        </a:rPr>
                        <a:t>Sathupadi</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&amp; </a:t>
                      </a:r>
                      <a:r>
                        <a:rPr lang="en-IN" sz="1400" b="0" i="0" kern="1200" dirty="0" err="1">
                          <a:solidFill>
                            <a:schemeClr val="dk1"/>
                          </a:solidFill>
                          <a:effectLst/>
                          <a:latin typeface="Times New Roman" panose="02020603050405020304" pitchFamily="18" charset="0"/>
                          <a:ea typeface="+mn-ea"/>
                          <a:cs typeface="Times New Roman" panose="02020603050405020304" pitchFamily="18" charset="0"/>
                        </a:rPr>
                        <a:t>S.Achar</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dirty="0">
                          <a:latin typeface="Times New Roman" panose="02020603050405020304" pitchFamily="18" charset="0"/>
                          <a:cs typeface="Times New Roman" panose="02020603050405020304" pitchFamily="18" charset="0"/>
                        </a:rPr>
                        <a:t>2025</a:t>
                      </a:r>
                    </a:p>
                    <a:p>
                      <a:pPr algn="ct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Real-Time Big Data Analytics for Secure Internet Banking</a:t>
                      </a:r>
                      <a:endParaRPr lang="en-US" sz="1400" i="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To create </a:t>
                      </a:r>
                      <a:r>
                        <a:rPr lang="en-US" sz="1400" b="0" i="0" kern="1200" dirty="0" err="1">
                          <a:solidFill>
                            <a:schemeClr val="dk1"/>
                          </a:solidFill>
                          <a:effectLst/>
                          <a:latin typeface="Times New Roman" panose="02020603050405020304" pitchFamily="18" charset="0"/>
                          <a:ea typeface="+mn-ea"/>
                          <a:cs typeface="Times New Roman" panose="02020603050405020304" pitchFamily="18" charset="0"/>
                        </a:rPr>
                        <a:t>BankNet</a:t>
                      </a: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 a framework for real-time predictions of diverse Internet banking metrics, going beyond fraud detection</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Big data analytics via </a:t>
                      </a:r>
                      <a:r>
                        <a:rPr lang="en-US" sz="1400" b="0" i="0" kern="1200" dirty="0" err="1">
                          <a:solidFill>
                            <a:schemeClr val="dk1"/>
                          </a:solidFill>
                          <a:effectLst/>
                          <a:latin typeface="Times New Roman" panose="02020603050405020304" pitchFamily="18" charset="0"/>
                          <a:ea typeface="+mn-ea"/>
                          <a:cs typeface="Times New Roman" panose="02020603050405020304" pitchFamily="18" charset="0"/>
                        </a:rPr>
                        <a:t>BiLSTM</a:t>
                      </a: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 framework and Apache tools.</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err="1">
                          <a:solidFill>
                            <a:schemeClr val="dk1"/>
                          </a:solidFill>
                          <a:effectLst/>
                          <a:latin typeface="Times New Roman" panose="02020603050405020304" pitchFamily="18" charset="0"/>
                          <a:ea typeface="+mn-ea"/>
                          <a:cs typeface="Times New Roman" panose="02020603050405020304" pitchFamily="18" charset="0"/>
                        </a:rPr>
                        <a:t>BankNet</a:t>
                      </a: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 enables real-time predictions, handles data rates of 700–1000 Mbps, and achieves high predictive accuracy</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Real-time prediction of diverse banking metrics addresses prior gaps.</a:t>
                      </a:r>
                      <a:endParaRPr lang="en-US" sz="1400" b="0"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312259080"/>
                  </a:ext>
                </a:extLst>
              </a:tr>
              <a:tr h="2156312">
                <a:tc>
                  <a:txBody>
                    <a:bodyPr/>
                    <a:lstStyle/>
                    <a:p>
                      <a:pPr algn="ctr"/>
                      <a:r>
                        <a:rPr lang="en-US" sz="1400" dirty="0">
                          <a:latin typeface="Times New Roman" panose="02020603050405020304" pitchFamily="18" charset="0"/>
                          <a:cs typeface="Times New Roman" panose="02020603050405020304" pitchFamily="18" charset="0"/>
                        </a:rPr>
                        <a:t>2</a:t>
                      </a:r>
                    </a:p>
                  </a:txBody>
                  <a:tcPr anchor="ctr">
                    <a:noFill/>
                  </a:tcPr>
                </a:tc>
                <a:tc>
                  <a:txBody>
                    <a:bodyPr/>
                    <a:lstStyle/>
                    <a:p>
                      <a:pPr algn="ctr"/>
                      <a:r>
                        <a:rPr lang="en-IN" sz="1400" b="0" i="0" kern="1200" dirty="0" err="1">
                          <a:solidFill>
                            <a:schemeClr val="dk1"/>
                          </a:solidFill>
                          <a:effectLst/>
                          <a:latin typeface="Times New Roman" panose="02020603050405020304" pitchFamily="18" charset="0"/>
                          <a:ea typeface="+mn-ea"/>
                          <a:cs typeface="Times New Roman" panose="02020603050405020304" pitchFamily="18" charset="0"/>
                        </a:rPr>
                        <a:t>N.Sarto</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2024</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Digital Banking: How Social Media is Shaping the Game</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To reveal the profound impacts of digital transformation on the banking sector, emphasizing key implementation areas</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Theoretical relationships confirmed via replication; bias mitigated by independent validation.</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The study reveals profound impacts of digital transformation on the banking sector, emphasizing key implementation areas</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The abstract provides a general overview but does not explicitly list gaps identified. </a:t>
                      </a:r>
                      <a:endParaRPr lang="en-US" sz="1400"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389036816"/>
                  </a:ext>
                </a:extLst>
              </a:tr>
            </a:tbl>
          </a:graphicData>
        </a:graphic>
      </p:graphicFrame>
    </p:spTree>
    <p:extLst>
      <p:ext uri="{BB962C8B-B14F-4D97-AF65-F5344CB8AC3E}">
        <p14:creationId xmlns:p14="http://schemas.microsoft.com/office/powerpoint/2010/main" val="233665823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0E23C-E7CF-AE1D-4B81-6C414BDC2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727E4-6A79-56FE-B78F-C0FD4E67364B}"/>
              </a:ext>
            </a:extLst>
          </p:cNvPr>
          <p:cNvSpPr>
            <a:spLocks noGrp="1"/>
          </p:cNvSpPr>
          <p:nvPr>
            <p:ph type="title"/>
          </p:nvPr>
        </p:nvSpPr>
        <p:spPr>
          <a:xfrm>
            <a:off x="952500" y="117987"/>
            <a:ext cx="10287000" cy="766762"/>
          </a:xfrm>
        </p:spPr>
        <p:txBody>
          <a:bodyPr anchor="t"/>
          <a:lstStyle/>
          <a:p>
            <a:r>
              <a:rPr lang="en-US" dirty="0">
                <a:latin typeface="Times New Roman" panose="02020603050405020304" pitchFamily="18" charset="0"/>
                <a:cs typeface="Times New Roman" panose="02020603050405020304" pitchFamily="18" charset="0"/>
              </a:rPr>
              <a:t>Literature Survey/ Existing Work</a:t>
            </a:r>
          </a:p>
        </p:txBody>
      </p:sp>
      <p:graphicFrame>
        <p:nvGraphicFramePr>
          <p:cNvPr id="8" name="Content Placeholder 3">
            <a:extLst>
              <a:ext uri="{FF2B5EF4-FFF2-40B4-BE49-F238E27FC236}">
                <a16:creationId xmlns:a16="http://schemas.microsoft.com/office/drawing/2014/main" id="{3A9AB0E9-DDAC-905A-DE9B-884B4498306E}"/>
              </a:ext>
            </a:extLst>
          </p:cNvPr>
          <p:cNvGraphicFramePr>
            <a:graphicFrameLocks/>
          </p:cNvGraphicFramePr>
          <p:nvPr>
            <p:extLst>
              <p:ext uri="{D42A27DB-BD31-4B8C-83A1-F6EECF244321}">
                <p14:modId xmlns:p14="http://schemas.microsoft.com/office/powerpoint/2010/main" val="48295202"/>
              </p:ext>
            </p:extLst>
          </p:nvPr>
        </p:nvGraphicFramePr>
        <p:xfrm>
          <a:off x="597153" y="742272"/>
          <a:ext cx="10997694" cy="4878007"/>
        </p:xfrm>
        <a:graphic>
          <a:graphicData uri="http://schemas.openxmlformats.org/drawingml/2006/table">
            <a:tbl>
              <a:tblPr>
                <a:tableStyleId>{D7AC3CCA-C797-4891-BE02-D94E43425B78}</a:tableStyleId>
              </a:tblPr>
              <a:tblGrid>
                <a:gridCol w="840972">
                  <a:extLst>
                    <a:ext uri="{9D8B030D-6E8A-4147-A177-3AD203B41FA5}">
                      <a16:colId xmlns:a16="http://schemas.microsoft.com/office/drawing/2014/main" val="3600491401"/>
                    </a:ext>
                  </a:extLst>
                </a:gridCol>
                <a:gridCol w="1553497">
                  <a:extLst>
                    <a:ext uri="{9D8B030D-6E8A-4147-A177-3AD203B41FA5}">
                      <a16:colId xmlns:a16="http://schemas.microsoft.com/office/drawing/2014/main" val="1722143225"/>
                    </a:ext>
                  </a:extLst>
                </a:gridCol>
                <a:gridCol w="778054">
                  <a:extLst>
                    <a:ext uri="{9D8B030D-6E8A-4147-A177-3AD203B41FA5}">
                      <a16:colId xmlns:a16="http://schemas.microsoft.com/office/drawing/2014/main" val="2332127981"/>
                    </a:ext>
                  </a:extLst>
                </a:gridCol>
                <a:gridCol w="1565034">
                  <a:extLst>
                    <a:ext uri="{9D8B030D-6E8A-4147-A177-3AD203B41FA5}">
                      <a16:colId xmlns:a16="http://schemas.microsoft.com/office/drawing/2014/main" val="3036803402"/>
                    </a:ext>
                  </a:extLst>
                </a:gridCol>
                <a:gridCol w="1727466">
                  <a:extLst>
                    <a:ext uri="{9D8B030D-6E8A-4147-A177-3AD203B41FA5}">
                      <a16:colId xmlns:a16="http://schemas.microsoft.com/office/drawing/2014/main" val="911376678"/>
                    </a:ext>
                  </a:extLst>
                </a:gridCol>
                <a:gridCol w="1676311">
                  <a:extLst>
                    <a:ext uri="{9D8B030D-6E8A-4147-A177-3AD203B41FA5}">
                      <a16:colId xmlns:a16="http://schemas.microsoft.com/office/drawing/2014/main" val="621933530"/>
                    </a:ext>
                  </a:extLst>
                </a:gridCol>
                <a:gridCol w="1368080">
                  <a:extLst>
                    <a:ext uri="{9D8B030D-6E8A-4147-A177-3AD203B41FA5}">
                      <a16:colId xmlns:a16="http://schemas.microsoft.com/office/drawing/2014/main" val="1482389531"/>
                    </a:ext>
                  </a:extLst>
                </a:gridCol>
                <a:gridCol w="1488280">
                  <a:extLst>
                    <a:ext uri="{9D8B030D-6E8A-4147-A177-3AD203B41FA5}">
                      <a16:colId xmlns:a16="http://schemas.microsoft.com/office/drawing/2014/main" val="3475837534"/>
                    </a:ext>
                  </a:extLst>
                </a:gridCol>
              </a:tblGrid>
              <a:tr h="603767">
                <a:tc>
                  <a:txBody>
                    <a:bodyPr/>
                    <a:lstStyle/>
                    <a:p>
                      <a:pPr algn="ctr"/>
                      <a:r>
                        <a:rPr lang="en-US" b="1" dirty="0">
                          <a:latin typeface="Times New Roman" panose="02020603050405020304" pitchFamily="18" charset="0"/>
                          <a:cs typeface="Times New Roman" panose="02020603050405020304" pitchFamily="18" charset="0"/>
                        </a:rPr>
                        <a:t>S. No.</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Author(s)</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Year</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Title</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a:latin typeface="Times New Roman" panose="02020603050405020304" pitchFamily="18" charset="0"/>
                          <a:cs typeface="Times New Roman" panose="02020603050405020304" pitchFamily="18" charset="0"/>
                        </a:rPr>
                        <a:t>Objective</a:t>
                      </a:r>
                      <a:endParaRPr lang="en-US">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Methodology</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a:latin typeface="Times New Roman" panose="02020603050405020304" pitchFamily="18" charset="0"/>
                          <a:cs typeface="Times New Roman" panose="02020603050405020304" pitchFamily="18" charset="0"/>
                        </a:rPr>
                        <a:t>Key Findings</a:t>
                      </a:r>
                      <a:endParaRPr lang="en-US">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Gaps Identified</a:t>
                      </a:r>
                      <a:endParaRPr 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974650814"/>
                  </a:ext>
                </a:extLst>
              </a:tr>
              <a:tr h="2081615">
                <a:tc>
                  <a:txBody>
                    <a:bodyPr/>
                    <a:lstStyle/>
                    <a:p>
                      <a:pPr algn="ctr"/>
                      <a:r>
                        <a:rPr lang="en-US" sz="1400" dirty="0">
                          <a:latin typeface="Times New Roman" panose="02020603050405020304" pitchFamily="18" charset="0"/>
                          <a:cs typeface="Times New Roman" panose="02020603050405020304" pitchFamily="18" charset="0"/>
                        </a:rPr>
                        <a:t>3</a:t>
                      </a:r>
                    </a:p>
                  </a:txBody>
                  <a:tcPr anchor="ctr">
                    <a:noFill/>
                  </a:tcPr>
                </a:tc>
                <a:tc>
                  <a:txBody>
                    <a:bodyPr/>
                    <a:lstStyle/>
                    <a:p>
                      <a:pPr algn="ct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Jia et al.</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dirty="0">
                          <a:latin typeface="Times New Roman" panose="02020603050405020304" pitchFamily="18" charset="0"/>
                          <a:cs typeface="Times New Roman" panose="02020603050405020304" pitchFamily="18" charset="0"/>
                        </a:rPr>
                        <a:t>2023</a:t>
                      </a: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Digital Financial and Banking Competition Network</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To study how digital finance reshapes the banking competition structure</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Competition analyzed using social network model, leveraging bank data and a converted digital finance index.</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Digital finance increases competition; large banks retain dominance in the evolving landscape.</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Competition through relationships &amp; digital finance impacts.</a:t>
                      </a:r>
                      <a:endParaRPr lang="en-US" sz="1400"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312259080"/>
                  </a:ext>
                </a:extLst>
              </a:tr>
              <a:tr h="2156312">
                <a:tc>
                  <a:txBody>
                    <a:bodyPr/>
                    <a:lstStyle/>
                    <a:p>
                      <a:pPr algn="ctr"/>
                      <a:r>
                        <a:rPr lang="en-US" sz="1400" b="0" dirty="0">
                          <a:latin typeface="Times New Roman" panose="02020603050405020304" pitchFamily="18" charset="0"/>
                          <a:cs typeface="Times New Roman" panose="02020603050405020304" pitchFamily="18" charset="0"/>
                        </a:rPr>
                        <a:t>4</a:t>
                      </a:r>
                    </a:p>
                  </a:txBody>
                  <a:tcPr anchor="ctr">
                    <a:noFill/>
                  </a:tcPr>
                </a:tc>
                <a:tc>
                  <a:txBody>
                    <a:bodyPr/>
                    <a:lstStyle/>
                    <a:p>
                      <a:pPr algn="ctr"/>
                      <a:r>
                        <a:rPr lang="en-IN" sz="1400" b="0" i="0" kern="1200" dirty="0" err="1">
                          <a:solidFill>
                            <a:schemeClr val="dk1"/>
                          </a:solidFill>
                          <a:effectLst/>
                          <a:latin typeface="Times New Roman" panose="02020603050405020304" pitchFamily="18" charset="0"/>
                          <a:ea typeface="+mn-ea"/>
                          <a:cs typeface="Times New Roman" panose="02020603050405020304" pitchFamily="18" charset="0"/>
                        </a:rPr>
                        <a:t>A.Casolaro</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&amp; G. Rauber</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2024</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Open Banking: A Systematic Literature Review</a:t>
                      </a:r>
                      <a:endParaRPr lang="en-US" sz="1400" i="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A systematic review of open banking’s impact on financial institutions and consumer relationships.</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Open banking's impact on financial institution-consumer relationships.</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Balances benefits (competition/access) with data privacy risks.</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Open banking's impact on consumers and financial models.</a:t>
                      </a:r>
                      <a:endParaRPr lang="en-US" sz="1400" b="0"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389036816"/>
                  </a:ext>
                </a:extLst>
              </a:tr>
            </a:tbl>
          </a:graphicData>
        </a:graphic>
      </p:graphicFrame>
    </p:spTree>
    <p:extLst>
      <p:ext uri="{BB962C8B-B14F-4D97-AF65-F5344CB8AC3E}">
        <p14:creationId xmlns:p14="http://schemas.microsoft.com/office/powerpoint/2010/main" val="243399102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6FA78-F9DF-6594-1C71-E0788367F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9D127-0F93-BC62-5858-2671674F431B}"/>
              </a:ext>
            </a:extLst>
          </p:cNvPr>
          <p:cNvSpPr>
            <a:spLocks noGrp="1"/>
          </p:cNvSpPr>
          <p:nvPr>
            <p:ph type="title"/>
          </p:nvPr>
        </p:nvSpPr>
        <p:spPr>
          <a:xfrm>
            <a:off x="952500" y="117987"/>
            <a:ext cx="10287000" cy="766762"/>
          </a:xfrm>
        </p:spPr>
        <p:txBody>
          <a:bodyPr anchor="t"/>
          <a:lstStyle/>
          <a:p>
            <a:r>
              <a:rPr lang="en-US" dirty="0">
                <a:latin typeface="Times New Roman" panose="02020603050405020304" pitchFamily="18" charset="0"/>
                <a:cs typeface="Times New Roman" panose="02020603050405020304" pitchFamily="18" charset="0"/>
              </a:rPr>
              <a:t>Literature Survey/ Existing Work</a:t>
            </a:r>
          </a:p>
        </p:txBody>
      </p:sp>
      <p:graphicFrame>
        <p:nvGraphicFramePr>
          <p:cNvPr id="8" name="Content Placeholder 3">
            <a:extLst>
              <a:ext uri="{FF2B5EF4-FFF2-40B4-BE49-F238E27FC236}">
                <a16:creationId xmlns:a16="http://schemas.microsoft.com/office/drawing/2014/main" id="{A861FA88-3BC6-0552-8B77-D68B19374ED9}"/>
              </a:ext>
            </a:extLst>
          </p:cNvPr>
          <p:cNvGraphicFramePr>
            <a:graphicFrameLocks/>
          </p:cNvGraphicFramePr>
          <p:nvPr>
            <p:extLst>
              <p:ext uri="{D42A27DB-BD31-4B8C-83A1-F6EECF244321}">
                <p14:modId xmlns:p14="http://schemas.microsoft.com/office/powerpoint/2010/main" val="1060218187"/>
              </p:ext>
            </p:extLst>
          </p:nvPr>
        </p:nvGraphicFramePr>
        <p:xfrm>
          <a:off x="594537" y="785043"/>
          <a:ext cx="11002925" cy="5005826"/>
        </p:xfrm>
        <a:graphic>
          <a:graphicData uri="http://schemas.openxmlformats.org/drawingml/2006/table">
            <a:tbl>
              <a:tblPr>
                <a:tableStyleId>{D7AC3CCA-C797-4891-BE02-D94E43425B78}</a:tableStyleId>
              </a:tblPr>
              <a:tblGrid>
                <a:gridCol w="846203">
                  <a:extLst>
                    <a:ext uri="{9D8B030D-6E8A-4147-A177-3AD203B41FA5}">
                      <a16:colId xmlns:a16="http://schemas.microsoft.com/office/drawing/2014/main" val="3600491401"/>
                    </a:ext>
                  </a:extLst>
                </a:gridCol>
                <a:gridCol w="1553497">
                  <a:extLst>
                    <a:ext uri="{9D8B030D-6E8A-4147-A177-3AD203B41FA5}">
                      <a16:colId xmlns:a16="http://schemas.microsoft.com/office/drawing/2014/main" val="1722143225"/>
                    </a:ext>
                  </a:extLst>
                </a:gridCol>
                <a:gridCol w="778054">
                  <a:extLst>
                    <a:ext uri="{9D8B030D-6E8A-4147-A177-3AD203B41FA5}">
                      <a16:colId xmlns:a16="http://schemas.microsoft.com/office/drawing/2014/main" val="2332127981"/>
                    </a:ext>
                  </a:extLst>
                </a:gridCol>
                <a:gridCol w="1565034">
                  <a:extLst>
                    <a:ext uri="{9D8B030D-6E8A-4147-A177-3AD203B41FA5}">
                      <a16:colId xmlns:a16="http://schemas.microsoft.com/office/drawing/2014/main" val="3036803402"/>
                    </a:ext>
                  </a:extLst>
                </a:gridCol>
                <a:gridCol w="1727466">
                  <a:extLst>
                    <a:ext uri="{9D8B030D-6E8A-4147-A177-3AD203B41FA5}">
                      <a16:colId xmlns:a16="http://schemas.microsoft.com/office/drawing/2014/main" val="911376678"/>
                    </a:ext>
                  </a:extLst>
                </a:gridCol>
                <a:gridCol w="1676311">
                  <a:extLst>
                    <a:ext uri="{9D8B030D-6E8A-4147-A177-3AD203B41FA5}">
                      <a16:colId xmlns:a16="http://schemas.microsoft.com/office/drawing/2014/main" val="621933530"/>
                    </a:ext>
                  </a:extLst>
                </a:gridCol>
                <a:gridCol w="1368080">
                  <a:extLst>
                    <a:ext uri="{9D8B030D-6E8A-4147-A177-3AD203B41FA5}">
                      <a16:colId xmlns:a16="http://schemas.microsoft.com/office/drawing/2014/main" val="1482389531"/>
                    </a:ext>
                  </a:extLst>
                </a:gridCol>
                <a:gridCol w="1488280">
                  <a:extLst>
                    <a:ext uri="{9D8B030D-6E8A-4147-A177-3AD203B41FA5}">
                      <a16:colId xmlns:a16="http://schemas.microsoft.com/office/drawing/2014/main" val="3475837534"/>
                    </a:ext>
                  </a:extLst>
                </a:gridCol>
              </a:tblGrid>
              <a:tr h="603767">
                <a:tc>
                  <a:txBody>
                    <a:bodyPr/>
                    <a:lstStyle/>
                    <a:p>
                      <a:pPr algn="ctr"/>
                      <a:r>
                        <a:rPr lang="en-US" b="1" dirty="0">
                          <a:latin typeface="Times New Roman" panose="02020603050405020304" pitchFamily="18" charset="0"/>
                          <a:cs typeface="Times New Roman" panose="02020603050405020304" pitchFamily="18" charset="0"/>
                        </a:rPr>
                        <a:t>S. No.</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Author(s)</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Year</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Title</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a:latin typeface="Times New Roman" panose="02020603050405020304" pitchFamily="18" charset="0"/>
                          <a:cs typeface="Times New Roman" panose="02020603050405020304" pitchFamily="18" charset="0"/>
                        </a:rPr>
                        <a:t>Objective</a:t>
                      </a:r>
                      <a:endParaRPr lang="en-US">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a:latin typeface="Times New Roman" panose="02020603050405020304" pitchFamily="18" charset="0"/>
                          <a:cs typeface="Times New Roman" panose="02020603050405020304" pitchFamily="18" charset="0"/>
                        </a:rPr>
                        <a:t>Methodology</a:t>
                      </a:r>
                      <a:endParaRPr lang="en-US">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Key Findings</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Gaps Identified</a:t>
                      </a:r>
                      <a:endParaRPr 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974650814"/>
                  </a:ext>
                </a:extLst>
              </a:tr>
              <a:tr h="2209434">
                <a:tc>
                  <a:txBody>
                    <a:bodyPr/>
                    <a:lstStyle/>
                    <a:p>
                      <a:pPr algn="ctr"/>
                      <a:r>
                        <a:rPr lang="en-US" sz="1400" b="0" dirty="0">
                          <a:latin typeface="Times New Roman" panose="02020603050405020304" pitchFamily="18" charset="0"/>
                          <a:cs typeface="Times New Roman" panose="02020603050405020304" pitchFamily="18" charset="0"/>
                        </a:rPr>
                        <a:t>5</a:t>
                      </a:r>
                    </a:p>
                  </a:txBody>
                  <a:tcPr anchor="ctr">
                    <a:noFill/>
                  </a:tcPr>
                </a:tc>
                <a:tc>
                  <a:txBody>
                    <a:bodyPr/>
                    <a:lstStyle/>
                    <a:p>
                      <a:pPr algn="ctr"/>
                      <a:r>
                        <a:rPr lang="en-IN" sz="1400" b="0" i="0" kern="1200" dirty="0" err="1">
                          <a:solidFill>
                            <a:schemeClr val="dk1"/>
                          </a:solidFill>
                          <a:effectLst/>
                          <a:latin typeface="Times New Roman" panose="02020603050405020304" pitchFamily="18" charset="0"/>
                          <a:ea typeface="+mn-ea"/>
                          <a:cs typeface="Times New Roman" panose="02020603050405020304" pitchFamily="18" charset="0"/>
                        </a:rPr>
                        <a:t>P.Singh</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Dr. P. Kumar &amp; Dr. Anjula</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dirty="0">
                          <a:latin typeface="Times New Roman" panose="02020603050405020304" pitchFamily="18" charset="0"/>
                          <a:cs typeface="Times New Roman" panose="02020603050405020304" pitchFamily="18" charset="0"/>
                        </a:rPr>
                        <a:t>2022</a:t>
                      </a: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A Review of the Literature on Banking and Financial Institutions</a:t>
                      </a:r>
                      <a:endParaRPr lang="en-US" sz="1400" i="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Examines banking's role in economic development, summarizing key findings, methods, and practical implications.</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24 articles (2006-2021) on banking performance, satisfaction, stability, innovation, &amp; development.</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Correlated bank performance with growth, satisfaction, lending, innovation, and crisis factors.</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Calls for more research on banks' evolving role and technological impacts on performance.</a:t>
                      </a:r>
                      <a:endParaRPr lang="en-US" sz="1400" b="0"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312259080"/>
                  </a:ext>
                </a:extLst>
              </a:tr>
              <a:tr h="2156312">
                <a:tc>
                  <a:txBody>
                    <a:bodyPr/>
                    <a:lstStyle/>
                    <a:p>
                      <a:pPr algn="ctr"/>
                      <a:r>
                        <a:rPr lang="en-US" sz="1400" b="0" dirty="0">
                          <a:latin typeface="Times New Roman" panose="02020603050405020304" pitchFamily="18" charset="0"/>
                          <a:cs typeface="Times New Roman" panose="02020603050405020304" pitchFamily="18" charset="0"/>
                        </a:rPr>
                        <a:t>6</a:t>
                      </a:r>
                    </a:p>
                  </a:txBody>
                  <a:tcPr anchor="ctr">
                    <a:noFill/>
                  </a:tcPr>
                </a:tc>
                <a:tc>
                  <a:txBody>
                    <a:bodyPr/>
                    <a:lstStyle/>
                    <a:p>
                      <a:pPr algn="ctr"/>
                      <a:r>
                        <a:rPr lang="en-IN" sz="1400" b="0" i="0" kern="1200" dirty="0" err="1">
                          <a:solidFill>
                            <a:schemeClr val="dk1"/>
                          </a:solidFill>
                          <a:effectLst/>
                          <a:latin typeface="Times New Roman" panose="02020603050405020304" pitchFamily="18" charset="0"/>
                          <a:ea typeface="+mn-ea"/>
                          <a:cs typeface="Times New Roman" panose="02020603050405020304" pitchFamily="18" charset="0"/>
                        </a:rPr>
                        <a:t>S.Rastogi</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a:t>
                      </a:r>
                      <a:r>
                        <a:rPr lang="en-IN" sz="1400" b="0" i="0" kern="1200" dirty="0" err="1">
                          <a:solidFill>
                            <a:schemeClr val="dk1"/>
                          </a:solidFill>
                          <a:effectLst/>
                          <a:latin typeface="Times New Roman" panose="02020603050405020304" pitchFamily="18" charset="0"/>
                          <a:ea typeface="+mn-ea"/>
                          <a:cs typeface="Times New Roman" panose="02020603050405020304" pitchFamily="18" charset="0"/>
                        </a:rPr>
                        <a:t>A.Sharma</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&amp; </a:t>
                      </a:r>
                      <a:r>
                        <a:rPr lang="en-IN" sz="1400" b="0" i="0" kern="1200" dirty="0" err="1">
                          <a:solidFill>
                            <a:schemeClr val="dk1"/>
                          </a:solidFill>
                          <a:effectLst/>
                          <a:latin typeface="Times New Roman" panose="02020603050405020304" pitchFamily="18" charset="0"/>
                          <a:ea typeface="+mn-ea"/>
                          <a:cs typeface="Times New Roman" panose="02020603050405020304" pitchFamily="18" charset="0"/>
                        </a:rPr>
                        <a:t>G.Pinto</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2022</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A Literature Review of Risk, Regulation, and Profitability of Banks Using a </a:t>
                      </a:r>
                      <a:r>
                        <a:rPr lang="en-US" sz="1400" b="0" i="0" kern="1200" dirty="0" err="1">
                          <a:solidFill>
                            <a:schemeClr val="dk1"/>
                          </a:solidFill>
                          <a:effectLst/>
                          <a:latin typeface="Times New Roman" panose="02020603050405020304" pitchFamily="18" charset="0"/>
                          <a:ea typeface="+mn-ea"/>
                          <a:cs typeface="Times New Roman" panose="02020603050405020304" pitchFamily="18" charset="0"/>
                        </a:rPr>
                        <a:t>Scientometric</a:t>
                      </a: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 Study</a:t>
                      </a:r>
                      <a:endParaRPr lang="en-US" sz="1400" i="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Analyzes regulation, profitability, and risk to inform policy recommendations.</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Scopus database analyzed with </a:t>
                      </a:r>
                      <a:r>
                        <a:rPr lang="en-US" sz="1400" b="0" i="0" kern="1200" dirty="0" err="1">
                          <a:solidFill>
                            <a:schemeClr val="dk1"/>
                          </a:solidFill>
                          <a:effectLst/>
                          <a:latin typeface="Times New Roman" panose="02020603050405020304" pitchFamily="18" charset="0"/>
                          <a:ea typeface="+mn-ea"/>
                          <a:cs typeface="Times New Roman" panose="02020603050405020304" pitchFamily="18" charset="0"/>
                        </a:rPr>
                        <a:t>scientometric</a:t>
                      </a: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 tools: network, citation, &amp; page rank.</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Concentration, market power &amp; reduced competition linked to decreased bank stability/profitability.</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Inadequate research on ownership's impact on bank performance identified.</a:t>
                      </a:r>
                      <a:endParaRPr lang="en-US" sz="1400" b="0"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389036816"/>
                  </a:ext>
                </a:extLst>
              </a:tr>
            </a:tbl>
          </a:graphicData>
        </a:graphic>
      </p:graphicFrame>
    </p:spTree>
    <p:extLst>
      <p:ext uri="{BB962C8B-B14F-4D97-AF65-F5344CB8AC3E}">
        <p14:creationId xmlns:p14="http://schemas.microsoft.com/office/powerpoint/2010/main" val="142798415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CEED0-6A5E-6124-D545-1AF21E8D6D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7A72D-1CDB-735E-4C58-DB85F8832851}"/>
              </a:ext>
            </a:extLst>
          </p:cNvPr>
          <p:cNvSpPr>
            <a:spLocks noGrp="1"/>
          </p:cNvSpPr>
          <p:nvPr>
            <p:ph type="title"/>
          </p:nvPr>
        </p:nvSpPr>
        <p:spPr>
          <a:xfrm>
            <a:off x="952500" y="117987"/>
            <a:ext cx="10287000" cy="766762"/>
          </a:xfrm>
        </p:spPr>
        <p:txBody>
          <a:bodyPr anchor="t"/>
          <a:lstStyle/>
          <a:p>
            <a:r>
              <a:rPr lang="en-US" dirty="0">
                <a:latin typeface="Times New Roman" panose="02020603050405020304" pitchFamily="18" charset="0"/>
                <a:cs typeface="Times New Roman" panose="02020603050405020304" pitchFamily="18" charset="0"/>
              </a:rPr>
              <a:t>Literature Survey/ Existing Work</a:t>
            </a:r>
          </a:p>
        </p:txBody>
      </p:sp>
      <p:graphicFrame>
        <p:nvGraphicFramePr>
          <p:cNvPr id="8" name="Content Placeholder 3">
            <a:extLst>
              <a:ext uri="{FF2B5EF4-FFF2-40B4-BE49-F238E27FC236}">
                <a16:creationId xmlns:a16="http://schemas.microsoft.com/office/drawing/2014/main" id="{10999E2B-9973-D5A6-B0A7-4914ACC268DC}"/>
              </a:ext>
            </a:extLst>
          </p:cNvPr>
          <p:cNvGraphicFramePr>
            <a:graphicFrameLocks/>
          </p:cNvGraphicFramePr>
          <p:nvPr>
            <p:extLst>
              <p:ext uri="{D42A27DB-BD31-4B8C-83A1-F6EECF244321}">
                <p14:modId xmlns:p14="http://schemas.microsoft.com/office/powerpoint/2010/main" val="148493169"/>
              </p:ext>
            </p:extLst>
          </p:nvPr>
        </p:nvGraphicFramePr>
        <p:xfrm>
          <a:off x="594537" y="704924"/>
          <a:ext cx="11002925" cy="5448152"/>
        </p:xfrm>
        <a:graphic>
          <a:graphicData uri="http://schemas.openxmlformats.org/drawingml/2006/table">
            <a:tbl>
              <a:tblPr>
                <a:tableStyleId>{D7AC3CCA-C797-4891-BE02-D94E43425B78}</a:tableStyleId>
              </a:tblPr>
              <a:tblGrid>
                <a:gridCol w="846203">
                  <a:extLst>
                    <a:ext uri="{9D8B030D-6E8A-4147-A177-3AD203B41FA5}">
                      <a16:colId xmlns:a16="http://schemas.microsoft.com/office/drawing/2014/main" val="3600491401"/>
                    </a:ext>
                  </a:extLst>
                </a:gridCol>
                <a:gridCol w="1553497">
                  <a:extLst>
                    <a:ext uri="{9D8B030D-6E8A-4147-A177-3AD203B41FA5}">
                      <a16:colId xmlns:a16="http://schemas.microsoft.com/office/drawing/2014/main" val="1722143225"/>
                    </a:ext>
                  </a:extLst>
                </a:gridCol>
                <a:gridCol w="778054">
                  <a:extLst>
                    <a:ext uri="{9D8B030D-6E8A-4147-A177-3AD203B41FA5}">
                      <a16:colId xmlns:a16="http://schemas.microsoft.com/office/drawing/2014/main" val="2332127981"/>
                    </a:ext>
                  </a:extLst>
                </a:gridCol>
                <a:gridCol w="1565034">
                  <a:extLst>
                    <a:ext uri="{9D8B030D-6E8A-4147-A177-3AD203B41FA5}">
                      <a16:colId xmlns:a16="http://schemas.microsoft.com/office/drawing/2014/main" val="3036803402"/>
                    </a:ext>
                  </a:extLst>
                </a:gridCol>
                <a:gridCol w="1727466">
                  <a:extLst>
                    <a:ext uri="{9D8B030D-6E8A-4147-A177-3AD203B41FA5}">
                      <a16:colId xmlns:a16="http://schemas.microsoft.com/office/drawing/2014/main" val="911376678"/>
                    </a:ext>
                  </a:extLst>
                </a:gridCol>
                <a:gridCol w="1676311">
                  <a:extLst>
                    <a:ext uri="{9D8B030D-6E8A-4147-A177-3AD203B41FA5}">
                      <a16:colId xmlns:a16="http://schemas.microsoft.com/office/drawing/2014/main" val="621933530"/>
                    </a:ext>
                  </a:extLst>
                </a:gridCol>
                <a:gridCol w="1368080">
                  <a:extLst>
                    <a:ext uri="{9D8B030D-6E8A-4147-A177-3AD203B41FA5}">
                      <a16:colId xmlns:a16="http://schemas.microsoft.com/office/drawing/2014/main" val="1482389531"/>
                    </a:ext>
                  </a:extLst>
                </a:gridCol>
                <a:gridCol w="1488280">
                  <a:extLst>
                    <a:ext uri="{9D8B030D-6E8A-4147-A177-3AD203B41FA5}">
                      <a16:colId xmlns:a16="http://schemas.microsoft.com/office/drawing/2014/main" val="3475837534"/>
                    </a:ext>
                  </a:extLst>
                </a:gridCol>
              </a:tblGrid>
              <a:tr h="603767">
                <a:tc>
                  <a:txBody>
                    <a:bodyPr/>
                    <a:lstStyle/>
                    <a:p>
                      <a:pPr algn="ctr"/>
                      <a:r>
                        <a:rPr lang="en-US" b="1" dirty="0">
                          <a:latin typeface="Times New Roman" panose="02020603050405020304" pitchFamily="18" charset="0"/>
                          <a:cs typeface="Times New Roman" panose="02020603050405020304" pitchFamily="18" charset="0"/>
                        </a:rPr>
                        <a:t>S. No.</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Author(s)</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Year</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Title</a:t>
                      </a:r>
                      <a:endParaRPr 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a:latin typeface="Times New Roman" panose="02020603050405020304" pitchFamily="18" charset="0"/>
                          <a:cs typeface="Times New Roman" panose="02020603050405020304" pitchFamily="18" charset="0"/>
                        </a:rPr>
                        <a:t>Objective</a:t>
                      </a:r>
                      <a:endParaRPr lang="en-US">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a:latin typeface="Times New Roman" panose="02020603050405020304" pitchFamily="18" charset="0"/>
                          <a:cs typeface="Times New Roman" panose="02020603050405020304" pitchFamily="18" charset="0"/>
                        </a:rPr>
                        <a:t>Methodology</a:t>
                      </a:r>
                      <a:endParaRPr lang="en-US">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a:latin typeface="Times New Roman" panose="02020603050405020304" pitchFamily="18" charset="0"/>
                          <a:cs typeface="Times New Roman" panose="02020603050405020304" pitchFamily="18" charset="0"/>
                        </a:rPr>
                        <a:t>Key Findings</a:t>
                      </a:r>
                      <a:endParaRPr lang="en-US">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b="1" dirty="0">
                          <a:latin typeface="Times New Roman" panose="02020603050405020304" pitchFamily="18" charset="0"/>
                          <a:cs typeface="Times New Roman" panose="02020603050405020304" pitchFamily="18" charset="0"/>
                        </a:rPr>
                        <a:t>Gaps Identified</a:t>
                      </a:r>
                      <a:endParaRPr 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974650814"/>
                  </a:ext>
                </a:extLst>
              </a:tr>
              <a:tr h="2616325">
                <a:tc>
                  <a:txBody>
                    <a:bodyPr/>
                    <a:lstStyle/>
                    <a:p>
                      <a:pPr algn="ctr"/>
                      <a:r>
                        <a:rPr lang="en-US" sz="1400" b="0" dirty="0">
                          <a:latin typeface="Times New Roman" panose="02020603050405020304" pitchFamily="18" charset="0"/>
                          <a:cs typeface="Times New Roman" panose="02020603050405020304" pitchFamily="18" charset="0"/>
                        </a:rPr>
                        <a:t>7</a:t>
                      </a:r>
                    </a:p>
                  </a:txBody>
                  <a:tcPr anchor="ctr">
                    <a:noFill/>
                  </a:tcPr>
                </a:tc>
                <a:tc>
                  <a:txBody>
                    <a:bodyPr/>
                    <a:lstStyle/>
                    <a:p>
                      <a:pPr algn="ctr"/>
                      <a:r>
                        <a:rPr lang="en-IN" sz="1400" b="0" i="0" kern="1200" dirty="0" err="1">
                          <a:solidFill>
                            <a:schemeClr val="dk1"/>
                          </a:solidFill>
                          <a:effectLst/>
                          <a:latin typeface="Times New Roman" panose="02020603050405020304" pitchFamily="18" charset="0"/>
                          <a:ea typeface="+mn-ea"/>
                          <a:cs typeface="Times New Roman" panose="02020603050405020304" pitchFamily="18" charset="0"/>
                        </a:rPr>
                        <a:t>A.Jiravichai</a:t>
                      </a: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 &amp; </a:t>
                      </a:r>
                      <a:r>
                        <a:rPr lang="en-IN" sz="1400" b="0" i="0" kern="1200" dirty="0" err="1">
                          <a:solidFill>
                            <a:schemeClr val="dk1"/>
                          </a:solidFill>
                          <a:effectLst/>
                          <a:latin typeface="Times New Roman" panose="02020603050405020304" pitchFamily="18" charset="0"/>
                          <a:ea typeface="+mn-ea"/>
                          <a:cs typeface="Times New Roman" panose="02020603050405020304" pitchFamily="18" charset="0"/>
                        </a:rPr>
                        <a:t>R.Banomyong</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2022</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A Proposed Methodology for Literature Review on Operational Risk Management in Banks</a:t>
                      </a:r>
                      <a:endParaRPr lang="en-US" sz="1400" i="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To propose a methodology that enables researchers to identify relevant search terms when conducting a literature review.</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Employed a systematic literature review and an evaluation of existing ORM </a:t>
                      </a:r>
                      <a:r>
                        <a:rPr lang="en-US" sz="1400" b="0" i="0" kern="1200" dirty="0" err="1">
                          <a:solidFill>
                            <a:schemeClr val="dk1"/>
                          </a:solidFill>
                          <a:effectLst/>
                          <a:latin typeface="Times New Roman" panose="02020603050405020304" pitchFamily="18" charset="0"/>
                          <a:ea typeface="+mn-ea"/>
                          <a:cs typeface="Times New Roman" panose="02020603050405020304" pitchFamily="18" charset="0"/>
                        </a:rPr>
                        <a:t>researh</a:t>
                      </a: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 methodologies.</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Enhanced keyword selection for ORM analysis , reveals measurement and data </a:t>
                      </a:r>
                      <a:r>
                        <a:rPr lang="en-US" sz="1400" b="0" i="0" kern="1200" dirty="0" err="1">
                          <a:solidFill>
                            <a:schemeClr val="dk1"/>
                          </a:solidFill>
                          <a:effectLst/>
                          <a:latin typeface="Times New Roman" panose="02020603050405020304" pitchFamily="18" charset="0"/>
                          <a:ea typeface="+mn-ea"/>
                          <a:cs typeface="Times New Roman" panose="02020603050405020304" pitchFamily="18" charset="0"/>
                        </a:rPr>
                        <a:t>availabilty</a:t>
                      </a: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 challenges; fosters interdisciplinary accuracy.</a:t>
                      </a:r>
                      <a:endParaRPr lang="en-US" sz="1400" b="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Scarce data limits understanding of loss events' impact on rivals/shareholders; empirical reliability questioned.</a:t>
                      </a:r>
                      <a:endParaRPr lang="en-US" sz="1400" b="0"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312259080"/>
                  </a:ext>
                </a:extLst>
              </a:tr>
              <a:tr h="2156312">
                <a:tc>
                  <a:txBody>
                    <a:bodyPr/>
                    <a:lstStyle/>
                    <a:p>
                      <a:pPr algn="ctr"/>
                      <a:r>
                        <a:rPr lang="en-US" sz="1400" dirty="0">
                          <a:latin typeface="Times New Roman" panose="02020603050405020304" pitchFamily="18" charset="0"/>
                          <a:cs typeface="Times New Roman" panose="02020603050405020304" pitchFamily="18" charset="0"/>
                        </a:rPr>
                        <a:t>8</a:t>
                      </a:r>
                    </a:p>
                  </a:txBody>
                  <a:tcPr anchor="ctr">
                    <a:noFill/>
                  </a:tcPr>
                </a:tc>
                <a:tc>
                  <a:txBody>
                    <a:bodyPr/>
                    <a:lstStyle/>
                    <a:p>
                      <a:pPr algn="ct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Kaur et al.</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2022</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Financial technology and competition</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To characterize competition, its impact on banks’ business models, and the accessibility and price of services for customers.</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Review of economic literature on financial technology and competition for banking services.</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Innovation &amp; competition driven by fintech in banking; P2P models challenge banks.</a:t>
                      </a:r>
                      <a:endParaRPr lang="en-US" sz="1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Financial technology may introduce new channels of transmission from competition to financial stability</a:t>
                      </a:r>
                      <a:endParaRPr lang="en-US" sz="1400"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389036816"/>
                  </a:ext>
                </a:extLst>
              </a:tr>
            </a:tbl>
          </a:graphicData>
        </a:graphic>
      </p:graphicFrame>
    </p:spTree>
    <p:extLst>
      <p:ext uri="{BB962C8B-B14F-4D97-AF65-F5344CB8AC3E}">
        <p14:creationId xmlns:p14="http://schemas.microsoft.com/office/powerpoint/2010/main" val="2953175541"/>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C018-26FD-2031-438C-A6665ED39105}"/>
              </a:ext>
            </a:extLst>
          </p:cNvPr>
          <p:cNvSpPr>
            <a:spLocks noGrp="1"/>
          </p:cNvSpPr>
          <p:nvPr>
            <p:ph type="title"/>
          </p:nvPr>
        </p:nvSpPr>
        <p:spPr>
          <a:xfrm>
            <a:off x="952500" y="368862"/>
            <a:ext cx="10287000" cy="1147762"/>
          </a:xfrm>
        </p:spPr>
        <p:txBody>
          <a:bodyPr anchor="t"/>
          <a:lstStyle/>
          <a:p>
            <a:r>
              <a:rPr lang="en-US"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DBAD7C50-8EB5-1571-EC06-D8CBB38A03D9}"/>
              </a:ext>
            </a:extLst>
          </p:cNvPr>
          <p:cNvSpPr>
            <a:spLocks noGrp="1"/>
          </p:cNvSpPr>
          <p:nvPr>
            <p:ph idx="1"/>
          </p:nvPr>
        </p:nvSpPr>
        <p:spPr>
          <a:xfrm>
            <a:off x="952500" y="942743"/>
            <a:ext cx="10287000" cy="3890965"/>
          </a:xfrm>
        </p:spPr>
        <p:txBody>
          <a:bodyPr>
            <a:noAutofit/>
          </a:bodyPr>
          <a:lstStyle/>
          <a:p>
            <a:pPr>
              <a:lnSpc>
                <a:spcPct val="150000"/>
              </a:lnSpc>
              <a:buNone/>
            </a:pPr>
            <a:r>
              <a:rPr lang="en-US" b="1" i="0" dirty="0">
                <a:solidFill>
                  <a:srgbClr val="000000"/>
                </a:solidFill>
                <a:effectLst/>
                <a:latin typeface="Times New Roman" panose="02020603050405020304" pitchFamily="18" charset="0"/>
                <a:cs typeface="Times New Roman" panose="02020603050405020304" pitchFamily="18" charset="0"/>
              </a:rPr>
              <a:t>1. Ensure High Availability: </a:t>
            </a:r>
            <a:r>
              <a:rPr lang="en-US" b="0" i="0" dirty="0">
                <a:solidFill>
                  <a:srgbClr val="000000"/>
                </a:solidFill>
                <a:effectLst/>
                <a:latin typeface="Times New Roman" panose="02020603050405020304" pitchFamily="18" charset="0"/>
                <a:cs typeface="Times New Roman" panose="02020603050405020304" pitchFamily="18" charset="0"/>
              </a:rPr>
              <a:t>To implement redundant systems and enable failover mechanisms to limit the occurrence of network downtime.</a:t>
            </a:r>
            <a:endParaRPr lang="en-US" dirty="0">
              <a:solidFill>
                <a:srgbClr val="000000"/>
              </a:solidFill>
              <a:effectLst/>
              <a:latin typeface="Times New Roman" panose="02020603050405020304" pitchFamily="18" charset="0"/>
              <a:cs typeface="Times New Roman" panose="02020603050405020304" pitchFamily="18" charset="0"/>
            </a:endParaRPr>
          </a:p>
          <a:p>
            <a:pPr>
              <a:lnSpc>
                <a:spcPct val="150000"/>
              </a:lnSpc>
              <a:buNone/>
            </a:pPr>
            <a:r>
              <a:rPr lang="en-US" b="1" i="0" dirty="0">
                <a:solidFill>
                  <a:srgbClr val="000000"/>
                </a:solidFill>
                <a:effectLst/>
                <a:latin typeface="Times New Roman" panose="02020603050405020304" pitchFamily="18" charset="0"/>
                <a:cs typeface="Times New Roman" panose="02020603050405020304" pitchFamily="18" charset="0"/>
              </a:rPr>
              <a:t>2. Improve Network Performance: </a:t>
            </a:r>
            <a:r>
              <a:rPr lang="en-US" b="0" i="0" dirty="0">
                <a:solidFill>
                  <a:srgbClr val="000000"/>
                </a:solidFill>
                <a:effectLst/>
                <a:latin typeface="Times New Roman" panose="02020603050405020304" pitchFamily="18" charset="0"/>
                <a:cs typeface="Times New Roman" panose="02020603050405020304" pitchFamily="18" charset="0"/>
              </a:rPr>
              <a:t>Ensure rapid, predictable, and reliable transfer of data to accommodate massive workloads and critical applications.</a:t>
            </a:r>
            <a:endParaRPr lang="en-US" dirty="0">
              <a:solidFill>
                <a:srgbClr val="000000"/>
              </a:solidFill>
              <a:effectLst/>
              <a:latin typeface="Times New Roman" panose="02020603050405020304" pitchFamily="18" charset="0"/>
              <a:cs typeface="Times New Roman" panose="02020603050405020304" pitchFamily="18" charset="0"/>
            </a:endParaRPr>
          </a:p>
          <a:p>
            <a:pPr>
              <a:lnSpc>
                <a:spcPct val="150000"/>
              </a:lnSpc>
              <a:buNone/>
            </a:pPr>
            <a:r>
              <a:rPr lang="en-US" b="1" i="0" dirty="0">
                <a:solidFill>
                  <a:srgbClr val="000000"/>
                </a:solidFill>
                <a:effectLst/>
                <a:latin typeface="Times New Roman" panose="02020603050405020304" pitchFamily="18" charset="0"/>
                <a:cs typeface="Times New Roman" panose="02020603050405020304" pitchFamily="18" charset="0"/>
              </a:rPr>
              <a:t>3. Cost Efficiency: </a:t>
            </a:r>
            <a:r>
              <a:rPr lang="en-US" b="0" i="0" dirty="0">
                <a:solidFill>
                  <a:srgbClr val="000000"/>
                </a:solidFill>
                <a:effectLst/>
                <a:latin typeface="Times New Roman" panose="02020603050405020304" pitchFamily="18" charset="0"/>
                <a:cs typeface="Times New Roman" panose="02020603050405020304" pitchFamily="18" charset="0"/>
              </a:rPr>
              <a:t>Balance infrastructure cost with the need for reliability and performance by applying modern cost-effective technologies.</a:t>
            </a:r>
            <a:endParaRPr lang="en-US" dirty="0">
              <a:solidFill>
                <a:srgbClr val="000000"/>
              </a:solidFill>
              <a:effectLst/>
              <a:latin typeface="Times New Roman" panose="02020603050405020304" pitchFamily="18" charset="0"/>
              <a:cs typeface="Times New Roman" panose="02020603050405020304" pitchFamily="18" charset="0"/>
            </a:endParaRPr>
          </a:p>
          <a:p>
            <a:pPr>
              <a:lnSpc>
                <a:spcPct val="150000"/>
              </a:lnSpc>
              <a:buNone/>
            </a:pPr>
            <a:r>
              <a:rPr lang="en-US" b="1" i="0" dirty="0">
                <a:solidFill>
                  <a:srgbClr val="000000"/>
                </a:solidFill>
                <a:effectLst/>
                <a:latin typeface="Times New Roman" panose="02020603050405020304" pitchFamily="18" charset="0"/>
                <a:cs typeface="Times New Roman" panose="02020603050405020304" pitchFamily="18" charset="0"/>
              </a:rPr>
              <a:t>4. Proactive Monitoring and Maintenance: </a:t>
            </a:r>
            <a:r>
              <a:rPr lang="en-US" b="0" i="0" dirty="0">
                <a:solidFill>
                  <a:srgbClr val="000000"/>
                </a:solidFill>
                <a:effectLst/>
                <a:latin typeface="Times New Roman" panose="02020603050405020304" pitchFamily="18" charset="0"/>
                <a:cs typeface="Times New Roman" panose="02020603050405020304" pitchFamily="18" charset="0"/>
              </a:rPr>
              <a:t>Detect and eliminate problems in real-time through network monitoring and management.</a:t>
            </a:r>
            <a:endParaRPr lang="en-US" dirty="0">
              <a:solidFill>
                <a:srgbClr val="000000"/>
              </a:solidFill>
              <a:effectLst/>
              <a:latin typeface="Times New Roman" panose="02020603050405020304" pitchFamily="18" charset="0"/>
              <a:cs typeface="Times New Roman" panose="02020603050405020304" pitchFamily="18" charset="0"/>
            </a:endParaRPr>
          </a:p>
          <a:p>
            <a:pPr marL="0" indent="0">
              <a:lnSpc>
                <a:spcPct val="150000"/>
              </a:lnSpc>
              <a:buNone/>
            </a:pPr>
            <a:r>
              <a:rPr lang="en-US" b="1" i="0" dirty="0">
                <a:solidFill>
                  <a:srgbClr val="000000"/>
                </a:solidFill>
                <a:effectLst/>
                <a:latin typeface="Times New Roman" panose="02020603050405020304" pitchFamily="18" charset="0"/>
                <a:cs typeface="Times New Roman" panose="02020603050405020304" pitchFamily="18" charset="0"/>
              </a:rPr>
              <a:t>5. Future-Proofing the Network: </a:t>
            </a:r>
            <a:r>
              <a:rPr lang="en-US" b="0" i="0" dirty="0">
                <a:solidFill>
                  <a:srgbClr val="000000"/>
                </a:solidFill>
                <a:effectLst/>
                <a:latin typeface="Times New Roman" panose="02020603050405020304" pitchFamily="18" charset="0"/>
                <a:cs typeface="Times New Roman" panose="02020603050405020304" pitchFamily="18" charset="0"/>
              </a:rPr>
              <a:t>Implement the latest technologies such as SD-WAN, 5G, to stay in pace with changing times. The network needs to evolve with technology.</a:t>
            </a:r>
            <a:endParaRPr lang="en-US"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2199516"/>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BBF29-CE82-BFE2-2787-D7FA7ABAAAC4}"/>
              </a:ext>
            </a:extLst>
          </p:cNvPr>
          <p:cNvSpPr>
            <a:spLocks noGrp="1"/>
          </p:cNvSpPr>
          <p:nvPr>
            <p:ph type="title"/>
          </p:nvPr>
        </p:nvSpPr>
        <p:spPr>
          <a:xfrm>
            <a:off x="952500" y="924387"/>
            <a:ext cx="10287000" cy="1147762"/>
          </a:xfrm>
        </p:spPr>
        <p:txBody>
          <a:bodyPr anchor="t"/>
          <a:lstStyle/>
          <a:p>
            <a:r>
              <a:rPr lang="en-US" dirty="0">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87E13110-F237-7786-3ADA-8ED95090D024}"/>
              </a:ext>
            </a:extLst>
          </p:cNvPr>
          <p:cNvSpPr>
            <a:spLocks noGrp="1"/>
          </p:cNvSpPr>
          <p:nvPr>
            <p:ph idx="1"/>
          </p:nvPr>
        </p:nvSpPr>
        <p:spPr>
          <a:xfrm>
            <a:off x="952500" y="1993840"/>
            <a:ext cx="10287000" cy="2789555"/>
          </a:xfrm>
        </p:spPr>
        <p:txBody>
          <a:bodyPr>
            <a:normAutofit/>
          </a:bodyPr>
          <a:lstStyle/>
          <a:p>
            <a:pPr marL="0" indent="0">
              <a:buNone/>
            </a:pPr>
            <a:r>
              <a:rPr lang="en-US" sz="2000" b="0" i="0" dirty="0">
                <a:solidFill>
                  <a:srgbClr val="000000"/>
                </a:solidFill>
                <a:effectLst/>
                <a:latin typeface="Times New Roman" panose="02020603050405020304" pitchFamily="18" charset="0"/>
                <a:cs typeface="Times New Roman" panose="02020603050405020304" pitchFamily="18" charset="0"/>
              </a:rPr>
              <a:t>Inspired by the increasing cyber threats targeting the banking sector, the goal is to design a secure banking network addressing challenges such as data breaches, unauthorized access, downtime, and network inefficiencies. The objective is to create a secure network featuring encrypted transactions, VLAN segmentation, and a DMZ. The approach involves implementing encryption for data protection, VLANs for network segmentation, and a DMZ for secure external access. The ultimate goal is to build a scalable and resilient banking infrastructure that ensures security, reliability, and seamless connectivity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1162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D7B9A-EA45-7D76-C10C-C5D6697BF4EE}"/>
              </a:ext>
            </a:extLst>
          </p:cNvPr>
          <p:cNvSpPr>
            <a:spLocks noGrp="1"/>
          </p:cNvSpPr>
          <p:nvPr>
            <p:ph type="title"/>
          </p:nvPr>
        </p:nvSpPr>
        <p:spPr>
          <a:xfrm>
            <a:off x="952500" y="1065583"/>
            <a:ext cx="10287000" cy="1147762"/>
          </a:xfrm>
        </p:spPr>
        <p:txBody>
          <a:bodyPr anchor="t"/>
          <a:lstStyle/>
          <a:p>
            <a:r>
              <a:rPr lang="en-US"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94AA6E1A-6746-AFFA-306F-9CED41CE8CFB}"/>
              </a:ext>
            </a:extLst>
          </p:cNvPr>
          <p:cNvSpPr>
            <a:spLocks noGrp="1"/>
          </p:cNvSpPr>
          <p:nvPr>
            <p:ph idx="1"/>
          </p:nvPr>
        </p:nvSpPr>
        <p:spPr>
          <a:xfrm>
            <a:off x="952500" y="2213345"/>
            <a:ext cx="10287000" cy="2050312"/>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Design a highly secure and reliable network for a bank's headquarters and branches that ensures encrypted inter-branch communication, departmental segmentation using VLANs, and a DMZ for public services—while implementing robust firewall and failover mechanisms for uninterrupted 24/7 availability.</a:t>
            </a:r>
          </a:p>
        </p:txBody>
      </p:sp>
    </p:spTree>
    <p:extLst>
      <p:ext uri="{BB962C8B-B14F-4D97-AF65-F5344CB8AC3E}">
        <p14:creationId xmlns:p14="http://schemas.microsoft.com/office/powerpoint/2010/main" val="3499415053"/>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35F89-34BE-D4CE-AF2E-53C98F03F297}"/>
              </a:ext>
            </a:extLst>
          </p:cNvPr>
          <p:cNvSpPr>
            <a:spLocks noGrp="1"/>
          </p:cNvSpPr>
          <p:nvPr>
            <p:ph type="title"/>
          </p:nvPr>
        </p:nvSpPr>
        <p:spPr>
          <a:xfrm>
            <a:off x="952500" y="264539"/>
            <a:ext cx="10287000" cy="715297"/>
          </a:xfrm>
        </p:spPr>
        <p:txBody>
          <a:bodyPr/>
          <a:lstStyle/>
          <a:p>
            <a:r>
              <a:rPr lang="en-US" dirty="0">
                <a:latin typeface="Times New Roman" panose="02020603050405020304" pitchFamily="18" charset="0"/>
                <a:cs typeface="Times New Roman" panose="02020603050405020304" pitchFamily="18" charset="0"/>
              </a:rPr>
              <a:t>Proposed solution</a:t>
            </a:r>
          </a:p>
        </p:txBody>
      </p:sp>
      <p:sp>
        <p:nvSpPr>
          <p:cNvPr id="3" name="Content Placeholder 2">
            <a:extLst>
              <a:ext uri="{FF2B5EF4-FFF2-40B4-BE49-F238E27FC236}">
                <a16:creationId xmlns:a16="http://schemas.microsoft.com/office/drawing/2014/main" id="{1B9F1615-216A-0CA7-6A83-05017B22C1F5}"/>
              </a:ext>
            </a:extLst>
          </p:cNvPr>
          <p:cNvSpPr>
            <a:spLocks noGrp="1"/>
          </p:cNvSpPr>
          <p:nvPr>
            <p:ph idx="1"/>
          </p:nvPr>
        </p:nvSpPr>
        <p:spPr>
          <a:xfrm>
            <a:off x="952500" y="1399822"/>
            <a:ext cx="10600403" cy="4874341"/>
          </a:xfrm>
        </p:spPr>
        <p:txBody>
          <a:bodyPr>
            <a:noAutofit/>
          </a:bodyPr>
          <a:lstStyle/>
          <a:p>
            <a:pPr>
              <a:lnSpc>
                <a:spcPct val="100000"/>
              </a:lnSpc>
              <a:buNone/>
            </a:pPr>
            <a:r>
              <a:rPr lang="en-US" b="1" dirty="0">
                <a:latin typeface="Times New Roman" panose="02020603050405020304" pitchFamily="18" charset="0"/>
                <a:cs typeface="Times New Roman" panose="02020603050405020304" pitchFamily="18" charset="0"/>
              </a:rPr>
              <a:t>Implementation of VLANs and Access Control:</a:t>
            </a:r>
          </a:p>
          <a:p>
            <a:pPr>
              <a:lnSpc>
                <a:spcPct val="100000"/>
              </a:lnSpc>
            </a:pPr>
            <a:r>
              <a:rPr lang="en-US" dirty="0">
                <a:latin typeface="Times New Roman" panose="02020603050405020304" pitchFamily="18" charset="0"/>
                <a:cs typeface="Times New Roman" panose="02020603050405020304" pitchFamily="18" charset="0"/>
              </a:rPr>
              <a:t>Segment network traffic by department using VLANs (e.g., Customer Service, Loans, IT Operations). Use Access Control Lists (ACLs) to manage traffic flow and enhance internal security.</a:t>
            </a:r>
            <a:endParaRPr lang="en-US" b="1" i="0" dirty="0">
              <a:solidFill>
                <a:srgbClr val="000000"/>
              </a:solidFill>
              <a:effectLst/>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DMZ Configuration for Public-Facing Services:</a:t>
            </a:r>
          </a:p>
          <a:p>
            <a:r>
              <a:rPr lang="en-US" dirty="0">
                <a:latin typeface="Times New Roman" panose="02020603050405020304" pitchFamily="18" charset="0"/>
                <a:cs typeface="Times New Roman" panose="02020603050405020304" pitchFamily="18" charset="0"/>
              </a:rPr>
              <a:t>Establish a DMZ to securely host online banking and other external applications. Isolate these from the internal network to prevent lateral movement in case of breaches.</a:t>
            </a:r>
          </a:p>
          <a:p>
            <a:pPr marL="0" indent="0">
              <a:lnSpc>
                <a:spcPct val="100000"/>
              </a:lnSpc>
              <a:buNone/>
            </a:pPr>
            <a:r>
              <a:rPr lang="en-US" b="1" dirty="0">
                <a:latin typeface="Times New Roman" panose="02020603050405020304" pitchFamily="18" charset="0"/>
                <a:cs typeface="Times New Roman" panose="02020603050405020304" pitchFamily="18" charset="0"/>
              </a:rPr>
              <a:t>End-to-End Encryption Mechanisms:</a:t>
            </a:r>
          </a:p>
          <a:p>
            <a:pPr>
              <a:lnSpc>
                <a:spcPct val="100000"/>
              </a:lnSpc>
            </a:pPr>
            <a:r>
              <a:rPr lang="en-US" dirty="0">
                <a:latin typeface="Times New Roman" panose="02020603050405020304" pitchFamily="18" charset="0"/>
                <a:cs typeface="Times New Roman" panose="02020603050405020304" pitchFamily="18" charset="0"/>
              </a:rPr>
              <a:t>Use IPsec VPNs for secure communication between branches and HQ. Ensure SSL/TLS encryption for online banking services and internal web-based tools.</a:t>
            </a:r>
          </a:p>
          <a:p>
            <a:pPr marL="0" indent="0">
              <a:lnSpc>
                <a:spcPct val="100000"/>
              </a:lnSpc>
              <a:buNone/>
            </a:pPr>
            <a:r>
              <a:rPr lang="en-US" b="1" dirty="0">
                <a:latin typeface="Times New Roman" panose="02020603050405020304" pitchFamily="18" charset="0"/>
                <a:cs typeface="Times New Roman" panose="02020603050405020304" pitchFamily="18" charset="0"/>
              </a:rPr>
              <a:t>Firewall Configuration and Intrusion Prevention:</a:t>
            </a:r>
          </a:p>
          <a:p>
            <a:pPr>
              <a:lnSpc>
                <a:spcPct val="100000"/>
              </a:lnSpc>
            </a:pPr>
            <a:r>
              <a:rPr lang="en-US" dirty="0">
                <a:latin typeface="Times New Roman" panose="02020603050405020304" pitchFamily="18" charset="0"/>
                <a:cs typeface="Times New Roman" panose="02020603050405020304" pitchFamily="18" charset="0"/>
              </a:rPr>
              <a:t>Deploy advanced firewalls with IPS features to block malicious traffic, detect anomalies, and enforce security policies consistently across the network.</a:t>
            </a:r>
          </a:p>
        </p:txBody>
      </p:sp>
    </p:spTree>
    <p:extLst>
      <p:ext uri="{BB962C8B-B14F-4D97-AF65-F5344CB8AC3E}">
        <p14:creationId xmlns:p14="http://schemas.microsoft.com/office/powerpoint/2010/main" val="211486872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B3E93-AB63-1160-56DE-CD901D822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069F8-20DE-37E6-98ED-6EFA85187BE4}"/>
              </a:ext>
            </a:extLst>
          </p:cNvPr>
          <p:cNvSpPr>
            <a:spLocks noGrp="1"/>
          </p:cNvSpPr>
          <p:nvPr>
            <p:ph type="title"/>
          </p:nvPr>
        </p:nvSpPr>
        <p:spPr>
          <a:xfrm>
            <a:off x="952500" y="264539"/>
            <a:ext cx="10287000" cy="715297"/>
          </a:xfrm>
        </p:spPr>
        <p:txBody>
          <a:bodyPr/>
          <a:lstStyle/>
          <a:p>
            <a:r>
              <a:rPr lang="en-US" dirty="0">
                <a:latin typeface="Times New Roman" panose="02020603050405020304" pitchFamily="18" charset="0"/>
                <a:cs typeface="Times New Roman" panose="02020603050405020304" pitchFamily="18" charset="0"/>
              </a:rPr>
              <a:t>Proposed solution</a:t>
            </a:r>
          </a:p>
        </p:txBody>
      </p:sp>
      <p:sp>
        <p:nvSpPr>
          <p:cNvPr id="3" name="Content Placeholder 2">
            <a:extLst>
              <a:ext uri="{FF2B5EF4-FFF2-40B4-BE49-F238E27FC236}">
                <a16:creationId xmlns:a16="http://schemas.microsoft.com/office/drawing/2014/main" id="{1098BA25-2C8C-FAFA-DE27-E8775A7BF825}"/>
              </a:ext>
            </a:extLst>
          </p:cNvPr>
          <p:cNvSpPr>
            <a:spLocks noGrp="1"/>
          </p:cNvSpPr>
          <p:nvPr>
            <p:ph idx="1"/>
          </p:nvPr>
        </p:nvSpPr>
        <p:spPr>
          <a:xfrm>
            <a:off x="952500" y="1399822"/>
            <a:ext cx="10600403" cy="4874341"/>
          </a:xfrm>
        </p:spPr>
        <p:txBody>
          <a:bodyPr>
            <a:noAutofit/>
          </a:bodyPr>
          <a:lstStyle/>
          <a:p>
            <a:pPr>
              <a:lnSpc>
                <a:spcPct val="100000"/>
              </a:lnSpc>
              <a:buNone/>
            </a:pPr>
            <a:r>
              <a:rPr lang="en-US" b="1" dirty="0">
                <a:latin typeface="Times New Roman" panose="02020603050405020304" pitchFamily="18" charset="0"/>
                <a:cs typeface="Times New Roman" panose="02020603050405020304" pitchFamily="18" charset="0"/>
              </a:rPr>
              <a:t>Implementation of VLANs and Access Control:</a:t>
            </a:r>
          </a:p>
          <a:p>
            <a:pPr>
              <a:lnSpc>
                <a:spcPct val="100000"/>
              </a:lnSpc>
            </a:pPr>
            <a:r>
              <a:rPr lang="en-US" dirty="0">
                <a:latin typeface="Times New Roman" panose="02020603050405020304" pitchFamily="18" charset="0"/>
                <a:cs typeface="Times New Roman" panose="02020603050405020304" pitchFamily="18" charset="0"/>
              </a:rPr>
              <a:t>Segment network traffic by department using VLANs (e.g., Customer Service, Loans, IT Operations). Use Access Control Lists (ACLs) to manage traffic flow and enhance internal security.</a:t>
            </a:r>
            <a:endParaRPr lang="en-US" b="1" i="0" dirty="0">
              <a:solidFill>
                <a:srgbClr val="000000"/>
              </a:solidFill>
              <a:effectLst/>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DMZ Configuration for Public-Facing Services:</a:t>
            </a:r>
          </a:p>
          <a:p>
            <a:r>
              <a:rPr lang="en-US" dirty="0">
                <a:latin typeface="Times New Roman" panose="02020603050405020304" pitchFamily="18" charset="0"/>
                <a:cs typeface="Times New Roman" panose="02020603050405020304" pitchFamily="18" charset="0"/>
              </a:rPr>
              <a:t>Establish a DMZ to securely host online banking and other external applications. Isolate these from the internal network to prevent lateral movement in case of breaches.</a:t>
            </a:r>
          </a:p>
          <a:p>
            <a:pPr marL="0" indent="0">
              <a:lnSpc>
                <a:spcPct val="100000"/>
              </a:lnSpc>
              <a:buNone/>
            </a:pPr>
            <a:r>
              <a:rPr lang="en-US" b="1" dirty="0">
                <a:latin typeface="Times New Roman" panose="02020603050405020304" pitchFamily="18" charset="0"/>
                <a:cs typeface="Times New Roman" panose="02020603050405020304" pitchFamily="18" charset="0"/>
              </a:rPr>
              <a:t>End-to-End Encryption Mechanisms:</a:t>
            </a:r>
          </a:p>
          <a:p>
            <a:pPr>
              <a:lnSpc>
                <a:spcPct val="100000"/>
              </a:lnSpc>
            </a:pPr>
            <a:r>
              <a:rPr lang="en-US" dirty="0">
                <a:latin typeface="Times New Roman" panose="02020603050405020304" pitchFamily="18" charset="0"/>
                <a:cs typeface="Times New Roman" panose="02020603050405020304" pitchFamily="18" charset="0"/>
              </a:rPr>
              <a:t>Use IPsec VPNs for secure communication between branches and HQ. Ensure SSL/TLS encryption for online banking services and internal web-based tools.</a:t>
            </a:r>
          </a:p>
          <a:p>
            <a:pPr marL="0" indent="0">
              <a:lnSpc>
                <a:spcPct val="100000"/>
              </a:lnSpc>
              <a:buNone/>
            </a:pPr>
            <a:r>
              <a:rPr lang="en-US" b="1" dirty="0">
                <a:latin typeface="Times New Roman" panose="02020603050405020304" pitchFamily="18" charset="0"/>
                <a:cs typeface="Times New Roman" panose="02020603050405020304" pitchFamily="18" charset="0"/>
              </a:rPr>
              <a:t>Firewall Configuration and Intrusion Prevention:</a:t>
            </a:r>
          </a:p>
          <a:p>
            <a:pPr>
              <a:lnSpc>
                <a:spcPct val="100000"/>
              </a:lnSpc>
            </a:pPr>
            <a:r>
              <a:rPr lang="en-US" dirty="0">
                <a:latin typeface="Times New Roman" panose="02020603050405020304" pitchFamily="18" charset="0"/>
                <a:cs typeface="Times New Roman" panose="02020603050405020304" pitchFamily="18" charset="0"/>
              </a:rPr>
              <a:t>Deploy advanced firewalls with IPS features to block malicious traffic, detect anomalies, and enforce security policies consistently across the network.</a:t>
            </a:r>
          </a:p>
        </p:txBody>
      </p:sp>
    </p:spTree>
    <p:extLst>
      <p:ext uri="{BB962C8B-B14F-4D97-AF65-F5344CB8AC3E}">
        <p14:creationId xmlns:p14="http://schemas.microsoft.com/office/powerpoint/2010/main" val="4286722594"/>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2A377-BE2F-8B59-0704-A064EB0D1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40EB57-4439-BD76-9C53-5D1BE0AB3D3D}"/>
              </a:ext>
            </a:extLst>
          </p:cNvPr>
          <p:cNvSpPr>
            <a:spLocks noGrp="1"/>
          </p:cNvSpPr>
          <p:nvPr>
            <p:ph type="title"/>
          </p:nvPr>
        </p:nvSpPr>
        <p:spPr>
          <a:xfrm>
            <a:off x="752481" y="67926"/>
            <a:ext cx="10287000" cy="678243"/>
          </a:xfrm>
        </p:spPr>
        <p:txBody>
          <a:bodyPr/>
          <a:lstStyle/>
          <a:p>
            <a:r>
              <a:rPr lang="en-US" dirty="0">
                <a:latin typeface="Times New Roman" panose="02020603050405020304" pitchFamily="18" charset="0"/>
                <a:cs typeface="Times New Roman" panose="02020603050405020304" pitchFamily="18" charset="0"/>
              </a:rPr>
              <a:t>System Design</a:t>
            </a:r>
          </a:p>
        </p:txBody>
      </p:sp>
      <p:sp>
        <p:nvSpPr>
          <p:cNvPr id="7" name="Content Placeholder 6">
            <a:extLst>
              <a:ext uri="{FF2B5EF4-FFF2-40B4-BE49-F238E27FC236}">
                <a16:creationId xmlns:a16="http://schemas.microsoft.com/office/drawing/2014/main" id="{89E7BD53-A609-3145-9AB4-06C21792BF71}"/>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9510F297-A59C-6E2F-1354-3B4CF94DC41E}"/>
              </a:ext>
            </a:extLst>
          </p:cNvPr>
          <p:cNvPicPr>
            <a:picLocks noChangeAspect="1"/>
          </p:cNvPicPr>
          <p:nvPr/>
        </p:nvPicPr>
        <p:blipFill>
          <a:blip r:embed="rId2"/>
          <a:stretch>
            <a:fillRect/>
          </a:stretch>
        </p:blipFill>
        <p:spPr>
          <a:xfrm>
            <a:off x="329184" y="836486"/>
            <a:ext cx="11396472" cy="5953588"/>
          </a:xfrm>
          <a:prstGeom prst="rect">
            <a:avLst/>
          </a:prstGeom>
        </p:spPr>
      </p:pic>
    </p:spTree>
    <p:extLst>
      <p:ext uri="{BB962C8B-B14F-4D97-AF65-F5344CB8AC3E}">
        <p14:creationId xmlns:p14="http://schemas.microsoft.com/office/powerpoint/2010/main" val="3038150649"/>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0B2C9-7594-CF97-2BFB-096F2F627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13A6A5-06AD-C5B2-0B46-379E7EE0A20C}"/>
              </a:ext>
            </a:extLst>
          </p:cNvPr>
          <p:cNvSpPr>
            <a:spLocks noGrp="1"/>
          </p:cNvSpPr>
          <p:nvPr>
            <p:ph type="title"/>
          </p:nvPr>
        </p:nvSpPr>
        <p:spPr>
          <a:xfrm>
            <a:off x="873842" y="204690"/>
            <a:ext cx="10287000" cy="1147762"/>
          </a:xfrm>
        </p:spPr>
        <p:txBody>
          <a:bodyPr anchor="t"/>
          <a:lstStyle/>
          <a:p>
            <a:r>
              <a:rPr lang="en-US" dirty="0">
                <a:latin typeface="Times New Roman" panose="02020603050405020304" pitchFamily="18" charset="0"/>
                <a:cs typeface="Times New Roman" panose="02020603050405020304" pitchFamily="18" charset="0"/>
              </a:rPr>
              <a:t>Technical Details:-</a:t>
            </a:r>
          </a:p>
        </p:txBody>
      </p:sp>
      <p:sp>
        <p:nvSpPr>
          <p:cNvPr id="3" name="Content Placeholder 2">
            <a:extLst>
              <a:ext uri="{FF2B5EF4-FFF2-40B4-BE49-F238E27FC236}">
                <a16:creationId xmlns:a16="http://schemas.microsoft.com/office/drawing/2014/main" id="{4C85B69F-DAE3-2CB9-8021-98B8D8E98DDA}"/>
              </a:ext>
            </a:extLst>
          </p:cNvPr>
          <p:cNvSpPr>
            <a:spLocks noGrp="1"/>
          </p:cNvSpPr>
          <p:nvPr>
            <p:ph idx="1"/>
          </p:nvPr>
        </p:nvSpPr>
        <p:spPr>
          <a:xfrm>
            <a:off x="873842" y="877824"/>
            <a:ext cx="10444316" cy="5129783"/>
          </a:xfrm>
        </p:spPr>
        <p:txBody>
          <a:bodyPr>
            <a:normAutofit lnSpcReduction="10000"/>
          </a:bodyPr>
          <a:lstStyle/>
          <a:p>
            <a:pPr algn="just">
              <a:lnSpc>
                <a:spcPct val="100000"/>
              </a:lnSpc>
            </a:pPr>
            <a:r>
              <a:rPr lang="en-US" dirty="0">
                <a:latin typeface="Times New Roman" panose="02020603050405020304" pitchFamily="18" charset="0"/>
                <a:cs typeface="Times New Roman" panose="02020603050405020304" pitchFamily="18" charset="0"/>
              </a:rPr>
              <a:t>Hardware:-</a:t>
            </a:r>
          </a:p>
          <a:p>
            <a:pPr marL="0" indent="0" algn="just">
              <a:lnSpc>
                <a:spcPct val="100000"/>
              </a:lnSpc>
              <a:buNone/>
            </a:pPr>
            <a:r>
              <a:rPr lang="en-US" dirty="0">
                <a:latin typeface="Times New Roman" panose="02020603050405020304" pitchFamily="18"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ML Switch , Normal Switch , Routers , Firewall , PCs , Servers , Printers , Access Points , Laptop , Smart-Phones,   	Tablet</a:t>
            </a:r>
            <a:endParaRPr lang="en-US" dirty="0">
              <a:latin typeface="Times New Roman" panose="02020603050405020304" pitchFamily="18" charset="0"/>
              <a:cs typeface="Times New Roman" panose="02020603050405020304" pitchFamily="18" charset="0"/>
            </a:endParaRPr>
          </a:p>
          <a:p>
            <a:pPr algn="just">
              <a:lnSpc>
                <a:spcPct val="100000"/>
              </a:lnSpc>
            </a:pPr>
            <a:r>
              <a:rPr lang="en-US" dirty="0">
                <a:latin typeface="Times New Roman" panose="02020603050405020304" pitchFamily="18" charset="0"/>
                <a:cs typeface="Times New Roman" panose="02020603050405020304" pitchFamily="18" charset="0"/>
              </a:rPr>
              <a:t>Software:-</a:t>
            </a:r>
          </a:p>
          <a:p>
            <a:pPr marL="0" indent="0" algn="just">
              <a:lnSpc>
                <a:spcPct val="100000"/>
              </a:lnSpc>
              <a:buNone/>
            </a:pPr>
            <a:r>
              <a:rPr lang="en-US" kern="100" dirty="0">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DHCP for IP allocation , VLAN for configuration and Trunking , Inter-VLAN Routing , ACL implementation for 	Intra-</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Vlan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security , NAT support for internet connectivity , HSRP for Redundancy, OSPF</a:t>
            </a:r>
          </a:p>
          <a:p>
            <a:pPr algn="just">
              <a:lnSpc>
                <a:spcPct val="100000"/>
              </a:lnSpc>
            </a:pPr>
            <a:r>
              <a:rPr lang="en-US" dirty="0">
                <a:latin typeface="Times New Roman" panose="02020603050405020304" pitchFamily="18" charset="0"/>
                <a:cs typeface="Times New Roman" panose="02020603050405020304" pitchFamily="18" charset="0"/>
              </a:rPr>
              <a:t>IP Address:-</a:t>
            </a:r>
          </a:p>
          <a:p>
            <a:pPr marL="0" indent="0" algn="just">
              <a:lnSpc>
                <a:spcPct val="100000"/>
              </a:lnSpc>
              <a:buNone/>
            </a:pPr>
            <a:endParaRPr lang="en-US" dirty="0">
              <a:latin typeface="Times New Roman" panose="02020603050405020304" pitchFamily="18" charset="0"/>
              <a:cs typeface="Times New Roman" panose="02020603050405020304" pitchFamily="18" charset="0"/>
            </a:endParaRPr>
          </a:p>
          <a:p>
            <a:pPr marL="0" indent="0" algn="just">
              <a:lnSpc>
                <a:spcPct val="100000"/>
              </a:lnSpc>
              <a:buNone/>
            </a:pPr>
            <a:endParaRPr lang="en-US" dirty="0">
              <a:latin typeface="Times New Roman" panose="02020603050405020304" pitchFamily="18" charset="0"/>
              <a:cs typeface="Times New Roman" panose="02020603050405020304" pitchFamily="18" charset="0"/>
            </a:endParaRPr>
          </a:p>
          <a:p>
            <a:pPr marL="0" indent="0" algn="just">
              <a:lnSpc>
                <a:spcPct val="100000"/>
              </a:lnSpc>
              <a:buNone/>
            </a:pPr>
            <a:endParaRPr lang="en-US" dirty="0">
              <a:latin typeface="Times New Roman" panose="02020603050405020304" pitchFamily="18" charset="0"/>
              <a:cs typeface="Times New Roman" panose="02020603050405020304" pitchFamily="18" charset="0"/>
            </a:endParaRPr>
          </a:p>
          <a:p>
            <a:pPr marL="0" indent="0" algn="just">
              <a:lnSpc>
                <a:spcPct val="100000"/>
              </a:lnSpc>
              <a:buNone/>
            </a:pPr>
            <a:endParaRPr lang="en-US" dirty="0">
              <a:latin typeface="Times New Roman" panose="02020603050405020304" pitchFamily="18" charset="0"/>
              <a:cs typeface="Times New Roman" panose="02020603050405020304" pitchFamily="18" charset="0"/>
            </a:endParaRPr>
          </a:p>
          <a:p>
            <a:pPr marL="0" indent="0" algn="just">
              <a:lnSpc>
                <a:spcPct val="100000"/>
              </a:lnSpc>
              <a:buNone/>
            </a:pPr>
            <a:endParaRPr lang="en-US" dirty="0">
              <a:latin typeface="Times New Roman" panose="02020603050405020304" pitchFamily="18" charset="0"/>
              <a:cs typeface="Times New Roman" panose="02020603050405020304" pitchFamily="18" charset="0"/>
            </a:endParaRPr>
          </a:p>
          <a:p>
            <a:pPr marL="0" indent="0" algn="just">
              <a:lnSpc>
                <a:spcPct val="100000"/>
              </a:lnSpc>
              <a:buNone/>
            </a:pPr>
            <a:endParaRPr lang="en-US" dirty="0">
              <a:latin typeface="Times New Roman" panose="02020603050405020304" pitchFamily="18" charset="0"/>
              <a:cs typeface="Times New Roman" panose="02020603050405020304" pitchFamily="18" charset="0"/>
            </a:endParaRPr>
          </a:p>
          <a:p>
            <a:pPr algn="just">
              <a:lnSpc>
                <a:spcPct val="100000"/>
              </a:lnSpc>
            </a:pPr>
            <a:r>
              <a:rPr lang="en-US" dirty="0">
                <a:latin typeface="Times New Roman" panose="02020603050405020304" pitchFamily="18" charset="0"/>
                <a:cs typeface="Times New Roman" panose="02020603050405020304" pitchFamily="18" charset="0"/>
              </a:rPr>
              <a:t>VLAN:- 6 VLANS are used subnetting.</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42BFFA2-9597-B481-0A2E-470F4A96D56A}"/>
              </a:ext>
            </a:extLst>
          </p:cNvPr>
          <p:cNvGraphicFramePr>
            <a:graphicFrameLocks noGrp="1"/>
          </p:cNvGraphicFramePr>
          <p:nvPr>
            <p:extLst>
              <p:ext uri="{D42A27DB-BD31-4B8C-83A1-F6EECF244321}">
                <p14:modId xmlns:p14="http://schemas.microsoft.com/office/powerpoint/2010/main" val="2452045665"/>
              </p:ext>
            </p:extLst>
          </p:nvPr>
        </p:nvGraphicFramePr>
        <p:xfrm>
          <a:off x="1725168" y="3191257"/>
          <a:ext cx="8741664" cy="2194560"/>
        </p:xfrm>
        <a:graphic>
          <a:graphicData uri="http://schemas.openxmlformats.org/drawingml/2006/table">
            <a:tbl>
              <a:tblPr/>
              <a:tblGrid>
                <a:gridCol w="2185416">
                  <a:extLst>
                    <a:ext uri="{9D8B030D-6E8A-4147-A177-3AD203B41FA5}">
                      <a16:colId xmlns:a16="http://schemas.microsoft.com/office/drawing/2014/main" val="1228853120"/>
                    </a:ext>
                  </a:extLst>
                </a:gridCol>
                <a:gridCol w="2185416">
                  <a:extLst>
                    <a:ext uri="{9D8B030D-6E8A-4147-A177-3AD203B41FA5}">
                      <a16:colId xmlns:a16="http://schemas.microsoft.com/office/drawing/2014/main" val="3611413503"/>
                    </a:ext>
                  </a:extLst>
                </a:gridCol>
                <a:gridCol w="2185416">
                  <a:extLst>
                    <a:ext uri="{9D8B030D-6E8A-4147-A177-3AD203B41FA5}">
                      <a16:colId xmlns:a16="http://schemas.microsoft.com/office/drawing/2014/main" val="3941097494"/>
                    </a:ext>
                  </a:extLst>
                </a:gridCol>
                <a:gridCol w="2185416">
                  <a:extLst>
                    <a:ext uri="{9D8B030D-6E8A-4147-A177-3AD203B41FA5}">
                      <a16:colId xmlns:a16="http://schemas.microsoft.com/office/drawing/2014/main" val="2279568095"/>
                    </a:ext>
                  </a:extLst>
                </a:gridCol>
              </a:tblGrid>
              <a:tr h="185693">
                <a:tc>
                  <a:txBody>
                    <a:bodyPr/>
                    <a:lstStyle/>
                    <a:p>
                      <a:r>
                        <a:rPr lang="en-IN" dirty="0"/>
                        <a:t>Branch</a:t>
                      </a:r>
                    </a:p>
                  </a:txBody>
                  <a:tcPr anchor="ctr">
                    <a:lnL>
                      <a:noFill/>
                    </a:lnL>
                    <a:lnR>
                      <a:noFill/>
                    </a:lnR>
                    <a:lnT>
                      <a:noFill/>
                    </a:lnT>
                    <a:lnB>
                      <a:noFill/>
                    </a:lnB>
                    <a:noFill/>
                  </a:tcPr>
                </a:tc>
                <a:tc>
                  <a:txBody>
                    <a:bodyPr/>
                    <a:lstStyle/>
                    <a:p>
                      <a:r>
                        <a:rPr lang="en-IN"/>
                        <a:t>Subnet</a:t>
                      </a:r>
                    </a:p>
                  </a:txBody>
                  <a:tcPr anchor="ctr">
                    <a:lnL>
                      <a:noFill/>
                    </a:lnL>
                    <a:lnR>
                      <a:noFill/>
                    </a:lnR>
                    <a:lnT>
                      <a:noFill/>
                    </a:lnT>
                    <a:lnB>
                      <a:noFill/>
                    </a:lnB>
                    <a:noFill/>
                  </a:tcPr>
                </a:tc>
                <a:tc>
                  <a:txBody>
                    <a:bodyPr/>
                    <a:lstStyle/>
                    <a:p>
                      <a:r>
                        <a:rPr lang="en-IN"/>
                        <a:t>Used Range</a:t>
                      </a:r>
                    </a:p>
                  </a:txBody>
                  <a:tcPr anchor="ctr">
                    <a:lnL>
                      <a:noFill/>
                    </a:lnL>
                    <a:lnR>
                      <a:noFill/>
                    </a:lnR>
                    <a:lnT>
                      <a:noFill/>
                    </a:lnT>
                    <a:lnB>
                      <a:noFill/>
                    </a:lnB>
                    <a:noFill/>
                  </a:tcPr>
                </a:tc>
                <a:tc>
                  <a:txBody>
                    <a:bodyPr/>
                    <a:lstStyle/>
                    <a:p>
                      <a:r>
                        <a:rPr lang="en-IN"/>
                        <a:t>Devices</a:t>
                      </a:r>
                    </a:p>
                  </a:txBody>
                  <a:tcPr anchor="ctr">
                    <a:lnL>
                      <a:noFill/>
                    </a:lnL>
                    <a:lnR>
                      <a:noFill/>
                    </a:lnR>
                    <a:lnT>
                      <a:noFill/>
                    </a:lnT>
                    <a:lnB>
                      <a:noFill/>
                    </a:lnB>
                    <a:noFill/>
                  </a:tcPr>
                </a:tc>
                <a:extLst>
                  <a:ext uri="{0D108BD9-81ED-4DB2-BD59-A6C34878D82A}">
                    <a16:rowId xmlns:a16="http://schemas.microsoft.com/office/drawing/2014/main" val="1864980874"/>
                  </a:ext>
                </a:extLst>
              </a:tr>
              <a:tr h="324964">
                <a:tc>
                  <a:txBody>
                    <a:bodyPr/>
                    <a:lstStyle/>
                    <a:p>
                      <a:r>
                        <a:rPr lang="en-IN" dirty="0"/>
                        <a:t>Main Branch</a:t>
                      </a:r>
                    </a:p>
                  </a:txBody>
                  <a:tcPr anchor="ctr">
                    <a:lnL>
                      <a:noFill/>
                    </a:lnL>
                    <a:lnR>
                      <a:noFill/>
                    </a:lnR>
                    <a:lnT>
                      <a:noFill/>
                    </a:lnT>
                    <a:lnB>
                      <a:noFill/>
                    </a:lnB>
                    <a:noFill/>
                  </a:tcPr>
                </a:tc>
                <a:tc>
                  <a:txBody>
                    <a:bodyPr/>
                    <a:lstStyle/>
                    <a:p>
                      <a:r>
                        <a:rPr lang="en-IN"/>
                        <a:t>192.168.20.0</a:t>
                      </a:r>
                    </a:p>
                  </a:txBody>
                  <a:tcPr anchor="ctr">
                    <a:lnL>
                      <a:noFill/>
                    </a:lnL>
                    <a:lnR>
                      <a:noFill/>
                    </a:lnR>
                    <a:lnT>
                      <a:noFill/>
                    </a:lnT>
                    <a:lnB>
                      <a:noFill/>
                    </a:lnB>
                    <a:noFill/>
                  </a:tcPr>
                </a:tc>
                <a:tc>
                  <a:txBody>
                    <a:bodyPr/>
                    <a:lstStyle/>
                    <a:p>
                      <a:r>
                        <a:rPr lang="en-IN"/>
                        <a:t>192.168.20.1–254</a:t>
                      </a:r>
                    </a:p>
                  </a:txBody>
                  <a:tcPr anchor="ctr">
                    <a:lnL>
                      <a:noFill/>
                    </a:lnL>
                    <a:lnR>
                      <a:noFill/>
                    </a:lnR>
                    <a:lnT>
                      <a:noFill/>
                    </a:lnT>
                    <a:lnB>
                      <a:noFill/>
                    </a:lnB>
                    <a:noFill/>
                  </a:tcPr>
                </a:tc>
                <a:tc>
                  <a:txBody>
                    <a:bodyPr/>
                    <a:lstStyle/>
                    <a:p>
                      <a:r>
                        <a:rPr lang="en-IN"/>
                        <a:t>9 devices + ATM</a:t>
                      </a:r>
                    </a:p>
                  </a:txBody>
                  <a:tcPr anchor="ctr">
                    <a:lnL>
                      <a:noFill/>
                    </a:lnL>
                    <a:lnR>
                      <a:noFill/>
                    </a:lnR>
                    <a:lnT>
                      <a:noFill/>
                    </a:lnT>
                    <a:lnB>
                      <a:noFill/>
                    </a:lnB>
                    <a:noFill/>
                  </a:tcPr>
                </a:tc>
                <a:extLst>
                  <a:ext uri="{0D108BD9-81ED-4DB2-BD59-A6C34878D82A}">
                    <a16:rowId xmlns:a16="http://schemas.microsoft.com/office/drawing/2014/main" val="2151848345"/>
                  </a:ext>
                </a:extLst>
              </a:tr>
              <a:tr h="324964">
                <a:tc>
                  <a:txBody>
                    <a:bodyPr/>
                    <a:lstStyle/>
                    <a:p>
                      <a:r>
                        <a:rPr lang="en-IN" dirty="0"/>
                        <a:t>Sub Branch 1</a:t>
                      </a:r>
                    </a:p>
                  </a:txBody>
                  <a:tcPr anchor="ctr">
                    <a:lnL>
                      <a:noFill/>
                    </a:lnL>
                    <a:lnR>
                      <a:noFill/>
                    </a:lnR>
                    <a:lnT>
                      <a:noFill/>
                    </a:lnT>
                    <a:lnB>
                      <a:noFill/>
                    </a:lnB>
                    <a:noFill/>
                  </a:tcPr>
                </a:tc>
                <a:tc>
                  <a:txBody>
                    <a:bodyPr/>
                    <a:lstStyle/>
                    <a:p>
                      <a:r>
                        <a:rPr lang="en-IN"/>
                        <a:t>192.168.10.0</a:t>
                      </a:r>
                    </a:p>
                  </a:txBody>
                  <a:tcPr anchor="ctr">
                    <a:lnL>
                      <a:noFill/>
                    </a:lnL>
                    <a:lnR>
                      <a:noFill/>
                    </a:lnR>
                    <a:lnT>
                      <a:noFill/>
                    </a:lnT>
                    <a:lnB>
                      <a:noFill/>
                    </a:lnB>
                    <a:noFill/>
                  </a:tcPr>
                </a:tc>
                <a:tc>
                  <a:txBody>
                    <a:bodyPr/>
                    <a:lstStyle/>
                    <a:p>
                      <a:r>
                        <a:rPr lang="en-IN"/>
                        <a:t>192.168.10.1–254</a:t>
                      </a:r>
                    </a:p>
                  </a:txBody>
                  <a:tcPr anchor="ctr">
                    <a:lnL>
                      <a:noFill/>
                    </a:lnL>
                    <a:lnR>
                      <a:noFill/>
                    </a:lnR>
                    <a:lnT>
                      <a:noFill/>
                    </a:lnT>
                    <a:lnB>
                      <a:noFill/>
                    </a:lnB>
                    <a:noFill/>
                  </a:tcPr>
                </a:tc>
                <a:tc>
                  <a:txBody>
                    <a:bodyPr/>
                    <a:lstStyle/>
                    <a:p>
                      <a:r>
                        <a:rPr lang="en-IN"/>
                        <a:t>6 devices + ATM</a:t>
                      </a:r>
                    </a:p>
                  </a:txBody>
                  <a:tcPr anchor="ctr">
                    <a:lnL>
                      <a:noFill/>
                    </a:lnL>
                    <a:lnR>
                      <a:noFill/>
                    </a:lnR>
                    <a:lnT>
                      <a:noFill/>
                    </a:lnT>
                    <a:lnB>
                      <a:noFill/>
                    </a:lnB>
                    <a:noFill/>
                  </a:tcPr>
                </a:tc>
                <a:extLst>
                  <a:ext uri="{0D108BD9-81ED-4DB2-BD59-A6C34878D82A}">
                    <a16:rowId xmlns:a16="http://schemas.microsoft.com/office/drawing/2014/main" val="3479780980"/>
                  </a:ext>
                </a:extLst>
              </a:tr>
              <a:tr h="324964">
                <a:tc>
                  <a:txBody>
                    <a:bodyPr/>
                    <a:lstStyle/>
                    <a:p>
                      <a:r>
                        <a:rPr lang="en-IN" dirty="0"/>
                        <a:t>Sub Branch 2</a:t>
                      </a:r>
                    </a:p>
                  </a:txBody>
                  <a:tcPr anchor="ctr">
                    <a:lnL>
                      <a:noFill/>
                    </a:lnL>
                    <a:lnR>
                      <a:noFill/>
                    </a:lnR>
                    <a:lnT>
                      <a:noFill/>
                    </a:lnT>
                    <a:lnB>
                      <a:noFill/>
                    </a:lnB>
                    <a:noFill/>
                  </a:tcPr>
                </a:tc>
                <a:tc>
                  <a:txBody>
                    <a:bodyPr/>
                    <a:lstStyle/>
                    <a:p>
                      <a:r>
                        <a:rPr lang="en-IN"/>
                        <a:t>192.168.11.0</a:t>
                      </a:r>
                    </a:p>
                  </a:txBody>
                  <a:tcPr anchor="ctr">
                    <a:lnL>
                      <a:noFill/>
                    </a:lnL>
                    <a:lnR>
                      <a:noFill/>
                    </a:lnR>
                    <a:lnT>
                      <a:noFill/>
                    </a:lnT>
                    <a:lnB>
                      <a:noFill/>
                    </a:lnB>
                    <a:noFill/>
                  </a:tcPr>
                </a:tc>
                <a:tc>
                  <a:txBody>
                    <a:bodyPr/>
                    <a:lstStyle/>
                    <a:p>
                      <a:r>
                        <a:rPr lang="en-IN" dirty="0"/>
                        <a:t>192.168.11.1–254</a:t>
                      </a:r>
                    </a:p>
                  </a:txBody>
                  <a:tcPr anchor="ctr">
                    <a:lnL>
                      <a:noFill/>
                    </a:lnL>
                    <a:lnR>
                      <a:noFill/>
                    </a:lnR>
                    <a:lnT>
                      <a:noFill/>
                    </a:lnT>
                    <a:lnB>
                      <a:noFill/>
                    </a:lnB>
                    <a:noFill/>
                  </a:tcPr>
                </a:tc>
                <a:tc>
                  <a:txBody>
                    <a:bodyPr/>
                    <a:lstStyle/>
                    <a:p>
                      <a:r>
                        <a:rPr lang="en-IN"/>
                        <a:t>6 devices + ATM</a:t>
                      </a:r>
                    </a:p>
                  </a:txBody>
                  <a:tcPr anchor="ctr">
                    <a:lnL>
                      <a:noFill/>
                    </a:lnL>
                    <a:lnR>
                      <a:noFill/>
                    </a:lnR>
                    <a:lnT>
                      <a:noFill/>
                    </a:lnT>
                    <a:lnB>
                      <a:noFill/>
                    </a:lnB>
                    <a:noFill/>
                  </a:tcPr>
                </a:tc>
                <a:extLst>
                  <a:ext uri="{0D108BD9-81ED-4DB2-BD59-A6C34878D82A}">
                    <a16:rowId xmlns:a16="http://schemas.microsoft.com/office/drawing/2014/main" val="2551439541"/>
                  </a:ext>
                </a:extLst>
              </a:tr>
              <a:tr h="324964">
                <a:tc>
                  <a:txBody>
                    <a:bodyPr/>
                    <a:lstStyle/>
                    <a:p>
                      <a:r>
                        <a:rPr lang="en-IN"/>
                        <a:t>Sub Branch 3</a:t>
                      </a:r>
                    </a:p>
                  </a:txBody>
                  <a:tcPr anchor="ctr">
                    <a:lnL>
                      <a:noFill/>
                    </a:lnL>
                    <a:lnR>
                      <a:noFill/>
                    </a:lnR>
                    <a:lnT>
                      <a:noFill/>
                    </a:lnT>
                    <a:lnB>
                      <a:noFill/>
                    </a:lnB>
                    <a:noFill/>
                  </a:tcPr>
                </a:tc>
                <a:tc>
                  <a:txBody>
                    <a:bodyPr/>
                    <a:lstStyle/>
                    <a:p>
                      <a:r>
                        <a:rPr lang="en-IN"/>
                        <a:t>192.168.12.0</a:t>
                      </a:r>
                    </a:p>
                  </a:txBody>
                  <a:tcPr anchor="ctr">
                    <a:lnL>
                      <a:noFill/>
                    </a:lnL>
                    <a:lnR>
                      <a:noFill/>
                    </a:lnR>
                    <a:lnT>
                      <a:noFill/>
                    </a:lnT>
                    <a:lnB>
                      <a:noFill/>
                    </a:lnB>
                    <a:noFill/>
                  </a:tcPr>
                </a:tc>
                <a:tc>
                  <a:txBody>
                    <a:bodyPr/>
                    <a:lstStyle/>
                    <a:p>
                      <a:r>
                        <a:rPr lang="en-IN"/>
                        <a:t>192.168.12.1–254</a:t>
                      </a:r>
                    </a:p>
                  </a:txBody>
                  <a:tcPr anchor="ctr">
                    <a:lnL>
                      <a:noFill/>
                    </a:lnL>
                    <a:lnR>
                      <a:noFill/>
                    </a:lnR>
                    <a:lnT>
                      <a:noFill/>
                    </a:lnT>
                    <a:lnB>
                      <a:noFill/>
                    </a:lnB>
                    <a:noFill/>
                  </a:tcPr>
                </a:tc>
                <a:tc>
                  <a:txBody>
                    <a:bodyPr/>
                    <a:lstStyle/>
                    <a:p>
                      <a:r>
                        <a:rPr lang="en-IN" dirty="0"/>
                        <a:t>7 devices + ATM</a:t>
                      </a:r>
                    </a:p>
                  </a:txBody>
                  <a:tcPr anchor="ctr">
                    <a:lnL>
                      <a:noFill/>
                    </a:lnL>
                    <a:lnR>
                      <a:noFill/>
                    </a:lnR>
                    <a:lnT>
                      <a:noFill/>
                    </a:lnT>
                    <a:lnB>
                      <a:noFill/>
                    </a:lnB>
                    <a:noFill/>
                  </a:tcPr>
                </a:tc>
                <a:extLst>
                  <a:ext uri="{0D108BD9-81ED-4DB2-BD59-A6C34878D82A}">
                    <a16:rowId xmlns:a16="http://schemas.microsoft.com/office/drawing/2014/main" val="3772470694"/>
                  </a:ext>
                </a:extLst>
              </a:tr>
              <a:tr h="324964">
                <a:tc>
                  <a:txBody>
                    <a:bodyPr/>
                    <a:lstStyle/>
                    <a:p>
                      <a:r>
                        <a:rPr lang="en-IN"/>
                        <a:t>Server Site</a:t>
                      </a:r>
                    </a:p>
                  </a:txBody>
                  <a:tcPr anchor="ctr">
                    <a:lnL>
                      <a:noFill/>
                    </a:lnL>
                    <a:lnR>
                      <a:noFill/>
                    </a:lnR>
                    <a:lnT>
                      <a:noFill/>
                    </a:lnT>
                    <a:lnB>
                      <a:noFill/>
                    </a:lnB>
                    <a:noFill/>
                  </a:tcPr>
                </a:tc>
                <a:tc>
                  <a:txBody>
                    <a:bodyPr/>
                    <a:lstStyle/>
                    <a:p>
                      <a:r>
                        <a:rPr lang="en-IN"/>
                        <a:t>192.168.30.0</a:t>
                      </a:r>
                    </a:p>
                  </a:txBody>
                  <a:tcPr anchor="ctr">
                    <a:lnL>
                      <a:noFill/>
                    </a:lnL>
                    <a:lnR>
                      <a:noFill/>
                    </a:lnR>
                    <a:lnT>
                      <a:noFill/>
                    </a:lnT>
                    <a:lnB>
                      <a:noFill/>
                    </a:lnB>
                    <a:noFill/>
                  </a:tcPr>
                </a:tc>
                <a:tc>
                  <a:txBody>
                    <a:bodyPr/>
                    <a:lstStyle/>
                    <a:p>
                      <a:r>
                        <a:rPr lang="en-IN"/>
                        <a:t>192.168.30.1–254</a:t>
                      </a:r>
                    </a:p>
                  </a:txBody>
                  <a:tcPr anchor="ctr">
                    <a:lnL>
                      <a:noFill/>
                    </a:lnL>
                    <a:lnR>
                      <a:noFill/>
                    </a:lnR>
                    <a:lnT>
                      <a:noFill/>
                    </a:lnT>
                    <a:lnB>
                      <a:noFill/>
                    </a:lnB>
                    <a:noFill/>
                  </a:tcPr>
                </a:tc>
                <a:tc>
                  <a:txBody>
                    <a:bodyPr/>
                    <a:lstStyle/>
                    <a:p>
                      <a:r>
                        <a:rPr lang="en-IN" dirty="0"/>
                        <a:t>4 servers</a:t>
                      </a:r>
                    </a:p>
                  </a:txBody>
                  <a:tcPr anchor="ctr">
                    <a:lnL>
                      <a:noFill/>
                    </a:lnL>
                    <a:lnR>
                      <a:noFill/>
                    </a:lnR>
                    <a:lnT>
                      <a:noFill/>
                    </a:lnT>
                    <a:lnB>
                      <a:noFill/>
                    </a:lnB>
                    <a:noFill/>
                  </a:tcPr>
                </a:tc>
                <a:extLst>
                  <a:ext uri="{0D108BD9-81ED-4DB2-BD59-A6C34878D82A}">
                    <a16:rowId xmlns:a16="http://schemas.microsoft.com/office/drawing/2014/main" val="1035313642"/>
                  </a:ext>
                </a:extLst>
              </a:tr>
            </a:tbl>
          </a:graphicData>
        </a:graphic>
      </p:graphicFrame>
    </p:spTree>
    <p:extLst>
      <p:ext uri="{BB962C8B-B14F-4D97-AF65-F5344CB8AC3E}">
        <p14:creationId xmlns:p14="http://schemas.microsoft.com/office/powerpoint/2010/main" val="4124636020"/>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FD335-D4C6-D163-09D2-DE551F233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8B48C-20B8-BC63-5E1B-0C290F5F038A}"/>
              </a:ext>
            </a:extLst>
          </p:cNvPr>
          <p:cNvSpPr>
            <a:spLocks noGrp="1"/>
          </p:cNvSpPr>
          <p:nvPr>
            <p:ph type="title"/>
          </p:nvPr>
        </p:nvSpPr>
        <p:spPr>
          <a:xfrm>
            <a:off x="873842" y="488154"/>
            <a:ext cx="10287000" cy="1147762"/>
          </a:xfrm>
        </p:spPr>
        <p:txBody>
          <a:bodyPr anchor="t"/>
          <a:lstStyle/>
          <a:p>
            <a:r>
              <a:rPr lang="en-IN" dirty="0">
                <a:latin typeface="Times New Roman" panose="02020603050405020304" pitchFamily="18" charset="0"/>
                <a:cs typeface="Times New Roman" panose="02020603050405020304" pitchFamily="18" charset="0"/>
              </a:rPr>
              <a:t>Implementation:- </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C665D9-C975-1A37-63BC-8CBE706B8AB0}"/>
              </a:ext>
            </a:extLst>
          </p:cNvPr>
          <p:cNvSpPr>
            <a:spLocks noGrp="1"/>
          </p:cNvSpPr>
          <p:nvPr>
            <p:ph idx="1"/>
          </p:nvPr>
        </p:nvSpPr>
        <p:spPr>
          <a:xfrm>
            <a:off x="952500" y="1483517"/>
            <a:ext cx="10287000" cy="3490819"/>
          </a:xfrm>
        </p:spPr>
        <p:txBody>
          <a:bodyPr>
            <a:norm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VLAN’S were added which were 6 in number :-</a:t>
            </a:r>
          </a:p>
          <a:p>
            <a:pPr marL="0" indent="0" algn="just">
              <a:buNone/>
            </a:pPr>
            <a:r>
              <a:rPr lang="en-US" dirty="0">
                <a:latin typeface="Times New Roman" panose="02020603050405020304" pitchFamily="18" charset="0"/>
                <a:cs typeface="Times New Roman" panose="02020603050405020304" pitchFamily="18" charset="0"/>
              </a:rPr>
              <a:t>          1.Server site   2.Sub-Branch1    3. Sub-Branch2    4. Sub-Branch3   5.Main Branch     6.DMZ Zone</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Redundant ISP &amp; SD-WAN: Dual ISP links with SD-WAN enable dynamic path selection and uninterrupted connectivity.</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Firewall &amp; DMZ Setup: Firewalls secure inter-branch traffic; DMZ hosts public services like online banking.</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Server Site Deployment: Centralized servers connect via a high-speed switch for core banking applications.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Core Switching &amp; Interconnectivity: Main switches connect all branches to the server and internet securely.</a:t>
            </a:r>
          </a:p>
        </p:txBody>
      </p:sp>
    </p:spTree>
    <p:extLst>
      <p:ext uri="{BB962C8B-B14F-4D97-AF65-F5344CB8AC3E}">
        <p14:creationId xmlns:p14="http://schemas.microsoft.com/office/powerpoint/2010/main" val="2121811968"/>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EF83E-EAF7-45CC-E9FF-78E185126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CDB9E-781A-B30A-10AB-EA31CC39A281}"/>
              </a:ext>
            </a:extLst>
          </p:cNvPr>
          <p:cNvSpPr>
            <a:spLocks noGrp="1"/>
          </p:cNvSpPr>
          <p:nvPr>
            <p:ph type="title"/>
          </p:nvPr>
        </p:nvSpPr>
        <p:spPr>
          <a:xfrm>
            <a:off x="873842" y="1062035"/>
            <a:ext cx="10287000" cy="1147762"/>
          </a:xfrm>
        </p:spPr>
        <p:txBody>
          <a:bodyPr anchor="t"/>
          <a:lstStyle/>
          <a:p>
            <a:r>
              <a:rPr lang="en-US" dirty="0">
                <a:latin typeface="Times New Roman" panose="02020603050405020304" pitchFamily="18" charset="0"/>
                <a:cs typeface="Times New Roman" panose="02020603050405020304" pitchFamily="18" charset="0"/>
              </a:rPr>
              <a:t>Testing &amp; Results:-</a:t>
            </a:r>
          </a:p>
        </p:txBody>
      </p:sp>
      <p:sp>
        <p:nvSpPr>
          <p:cNvPr id="3" name="Content Placeholder 2">
            <a:extLst>
              <a:ext uri="{FF2B5EF4-FFF2-40B4-BE49-F238E27FC236}">
                <a16:creationId xmlns:a16="http://schemas.microsoft.com/office/drawing/2014/main" id="{662AD9F1-3A7A-2664-FB6B-F480B90C8445}"/>
              </a:ext>
            </a:extLst>
          </p:cNvPr>
          <p:cNvSpPr>
            <a:spLocks noGrp="1"/>
          </p:cNvSpPr>
          <p:nvPr>
            <p:ph idx="1"/>
          </p:nvPr>
        </p:nvSpPr>
        <p:spPr>
          <a:xfrm>
            <a:off x="873842" y="1905000"/>
            <a:ext cx="10287000" cy="3890965"/>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proposed banking network was tested in Cisco Packet Tracer, focusing on VLAN communication, security, and redundancy. Inter-VLAN routing was successful, and ACLs effectively restricted unauthorized access, especially between the DMZ and internal VLANs. Public access to DMZ services was verified, and VPN simulation ensured secure branch-to-HQ communication. HSRP provided seamless failover, while NAT enabled Internet access for internal users. Overall, the design met all objectives of security, availability, and performance.</a:t>
            </a:r>
          </a:p>
        </p:txBody>
      </p:sp>
    </p:spTree>
    <p:extLst>
      <p:ext uri="{BB962C8B-B14F-4D97-AF65-F5344CB8AC3E}">
        <p14:creationId xmlns:p14="http://schemas.microsoft.com/office/powerpoint/2010/main" val="366329922"/>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A81FB-0EC2-5400-8464-F84AF59F9098}"/>
              </a:ext>
            </a:extLst>
          </p:cNvPr>
          <p:cNvSpPr>
            <a:spLocks noGrp="1"/>
          </p:cNvSpPr>
          <p:nvPr>
            <p:ph type="title"/>
          </p:nvPr>
        </p:nvSpPr>
        <p:spPr>
          <a:xfrm>
            <a:off x="952500" y="1287151"/>
            <a:ext cx="10287000" cy="1147762"/>
          </a:xfrm>
        </p:spPr>
        <p:txBody>
          <a:bodyPr anchor="t"/>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EE7EC97-D3CA-7480-39FE-F055B22AB912}"/>
              </a:ext>
            </a:extLst>
          </p:cNvPr>
          <p:cNvSpPr>
            <a:spLocks noGrp="1"/>
          </p:cNvSpPr>
          <p:nvPr>
            <p:ph idx="1"/>
          </p:nvPr>
        </p:nvSpPr>
        <p:spPr>
          <a:xfrm>
            <a:off x="952500" y="2120158"/>
            <a:ext cx="10287000" cy="2832843"/>
          </a:xfrm>
        </p:spPr>
        <p:txBody>
          <a:bodyPr>
            <a:normAutofit/>
          </a:bodyPr>
          <a:lstStyle/>
          <a:p>
            <a:pPr marL="0" indent="0" algn="just">
              <a:buNone/>
            </a:pPr>
            <a:r>
              <a:rPr lang="en-US" sz="2000" b="0" i="0" dirty="0">
                <a:solidFill>
                  <a:srgbClr val="000000"/>
                </a:solidFill>
                <a:effectLst/>
                <a:latin typeface="Times New Roman" panose="02020603050405020304" pitchFamily="18" charset="0"/>
                <a:cs typeface="Times New Roman" panose="02020603050405020304" pitchFamily="18" charset="0"/>
              </a:rPr>
              <a:t>A system designed for seamless inter-branch communication utilizes client-server or peer-to-peer networking with LAN or VPN for secure data transfer. Security is ensured through encryption, firewalls, and multi-factor authentication. The tech stack includes TCP/IP, SQL databases, VPNs, and firewalls for stable and secure operations.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1032489"/>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CEA0D-8D2B-5CF6-4319-4CBF1668ABFB}"/>
              </a:ext>
            </a:extLst>
          </p:cNvPr>
          <p:cNvSpPr>
            <a:spLocks noGrp="1"/>
          </p:cNvSpPr>
          <p:nvPr>
            <p:ph type="title"/>
          </p:nvPr>
        </p:nvSpPr>
        <p:spPr>
          <a:xfrm>
            <a:off x="952500" y="388918"/>
            <a:ext cx="10287000" cy="1147762"/>
          </a:xfrm>
        </p:spPr>
        <p:txBody>
          <a:bodyPr anchor="t"/>
          <a:lstStyle/>
          <a:p>
            <a:r>
              <a:rPr lang="en-US"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DE183DE5-3196-23C9-57D3-DDE861AD81AA}"/>
              </a:ext>
            </a:extLst>
          </p:cNvPr>
          <p:cNvSpPr>
            <a:spLocks noGrp="1"/>
          </p:cNvSpPr>
          <p:nvPr>
            <p:ph idx="1"/>
          </p:nvPr>
        </p:nvSpPr>
        <p:spPr>
          <a:xfrm>
            <a:off x="1028700" y="1111377"/>
            <a:ext cx="10287000" cy="3890965"/>
          </a:xfrm>
        </p:spPr>
        <p:txBody>
          <a:bodyPr>
            <a:noAutofit/>
          </a:bodyPr>
          <a:lstStyle/>
          <a:p>
            <a:pPr>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Cele, N.N. and Kwenda, S. (2025) Identified identity theft, malware attacks, phishing, and vishing as significant cybersecurity threats hindering digital banking adoption. The study also summarized 13 preventive tools.</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0" i="0" dirty="0" err="1">
                <a:solidFill>
                  <a:srgbClr val="000000"/>
                </a:solidFill>
                <a:effectLst/>
                <a:latin typeface="Times New Roman" panose="02020603050405020304" pitchFamily="18" charset="0"/>
                <a:cs typeface="Times New Roman" panose="02020603050405020304" pitchFamily="18" charset="0"/>
              </a:rPr>
              <a:t>Judijanto</a:t>
            </a:r>
            <a:r>
              <a:rPr lang="en-US" b="0" i="0" dirty="0">
                <a:solidFill>
                  <a:srgbClr val="000000"/>
                </a:solidFill>
                <a:effectLst/>
                <a:latin typeface="Times New Roman" panose="02020603050405020304" pitchFamily="18" charset="0"/>
                <a:cs typeface="Times New Roman" panose="02020603050405020304" pitchFamily="18" charset="0"/>
              </a:rPr>
              <a:t>, L., </a:t>
            </a:r>
            <a:r>
              <a:rPr lang="en-US" b="0" i="0" dirty="0" err="1">
                <a:solidFill>
                  <a:srgbClr val="000000"/>
                </a:solidFill>
                <a:effectLst/>
                <a:latin typeface="Times New Roman" panose="02020603050405020304" pitchFamily="18" charset="0"/>
                <a:cs typeface="Times New Roman" panose="02020603050405020304" pitchFamily="18" charset="0"/>
              </a:rPr>
              <a:t>Kaaffah</a:t>
            </a:r>
            <a:r>
              <a:rPr lang="en-US" b="0" i="0" dirty="0">
                <a:solidFill>
                  <a:srgbClr val="000000"/>
                </a:solidFill>
                <a:effectLst/>
                <a:latin typeface="Times New Roman" panose="02020603050405020304" pitchFamily="18" charset="0"/>
                <a:cs typeface="Times New Roman" panose="02020603050405020304" pitchFamily="18" charset="0"/>
              </a:rPr>
              <a:t>, F.M., </a:t>
            </a:r>
            <a:r>
              <a:rPr lang="en-US" b="0" i="0" dirty="0" err="1">
                <a:solidFill>
                  <a:srgbClr val="000000"/>
                </a:solidFill>
                <a:effectLst/>
                <a:latin typeface="Times New Roman" panose="02020603050405020304" pitchFamily="18" charset="0"/>
                <a:cs typeface="Times New Roman" panose="02020603050405020304" pitchFamily="18" charset="0"/>
              </a:rPr>
              <a:t>Muthmainah</a:t>
            </a:r>
            <a:r>
              <a:rPr lang="en-US" b="0" i="0" dirty="0">
                <a:solidFill>
                  <a:srgbClr val="000000"/>
                </a:solidFill>
                <a:effectLst/>
                <a:latin typeface="Times New Roman" panose="02020603050405020304" pitchFamily="18" charset="0"/>
                <a:cs typeface="Times New Roman" panose="02020603050405020304" pitchFamily="18" charset="0"/>
              </a:rPr>
              <a:t>, H.N., and </a:t>
            </a:r>
            <a:r>
              <a:rPr lang="en-US" b="0" i="0" dirty="0" err="1">
                <a:solidFill>
                  <a:srgbClr val="000000"/>
                </a:solidFill>
                <a:effectLst/>
                <a:latin typeface="Times New Roman" panose="02020603050405020304" pitchFamily="18" charset="0"/>
                <a:cs typeface="Times New Roman" panose="02020603050405020304" pitchFamily="18" charset="0"/>
              </a:rPr>
              <a:t>Vandika</a:t>
            </a:r>
            <a:r>
              <a:rPr lang="en-US" b="0" i="0" dirty="0">
                <a:solidFill>
                  <a:srgbClr val="000000"/>
                </a:solidFill>
                <a:effectLst/>
                <a:latin typeface="Times New Roman" panose="02020603050405020304" pitchFamily="18" charset="0"/>
                <a:cs typeface="Times New Roman" panose="02020603050405020304" pitchFamily="18" charset="0"/>
              </a:rPr>
              <a:t>, A.Y. (2024) Explored computer network security's role in safeguarding financial data and customer trust in Indonesia's digitalizing financial sector. It highlights the need for collaborative efforts to address cybersecurity challenges.</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North Press (2024) This literature review explores the pivotal role of computer network security in safeguarding financial data, transactions, and customer trust within this dynamic context.</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Acharya, S. and Joshi, S. (2020) Studied the impact of cyber-attacks on banking institutions in India, focusing on safety mechanisms and preventive measures.</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Vanini et al. (2021) Emphasized that all parties involved in digital transactions must remain aware of cyber threats and update their knowledge to minimize the adverse impacts on digital banking adoption.</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Accenture (2019) Provided insights into the cost of cybercrime in the USA</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3456204"/>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41D922-2303-403B-C80C-06A700728C8F}"/>
              </a:ext>
            </a:extLst>
          </p:cNvPr>
          <p:cNvSpPr>
            <a:spLocks noGrp="1"/>
          </p:cNvSpPr>
          <p:nvPr>
            <p:ph idx="1"/>
          </p:nvPr>
        </p:nvSpPr>
        <p:spPr>
          <a:xfrm>
            <a:off x="1356720" y="2182295"/>
            <a:ext cx="10287000" cy="2150510"/>
          </a:xfrm>
        </p:spPr>
        <p:txBody>
          <a:bodyPr>
            <a:normAutofit/>
          </a:bodyPr>
          <a:lstStyle/>
          <a:p>
            <a:pPr marL="0" indent="0" algn="ctr">
              <a:buNone/>
            </a:pPr>
            <a:r>
              <a:rPr lang="en-US" sz="115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54057630"/>
      </p:ext>
    </p:extLst>
  </p:cSld>
  <p:clrMapOvr>
    <a:masterClrMapping/>
  </p:clrMapOvr>
  <p:transition spd="slow">
    <p:push dir="u"/>
  </p:transition>
</p:sld>
</file>

<file path=ppt/theme/theme1.xml><?xml version="1.0" encoding="utf-8"?>
<a:theme xmlns:a="http://schemas.openxmlformats.org/drawingml/2006/main" name="AfterglowVTI">
  <a:themeElements>
    <a:clrScheme name="AnalogousFromLightSeedLeftStep">
      <a:dk1>
        <a:srgbClr val="000000"/>
      </a:dk1>
      <a:lt1>
        <a:srgbClr val="FFFFFF"/>
      </a:lt1>
      <a:dk2>
        <a:srgbClr val="233A3E"/>
      </a:dk2>
      <a:lt2>
        <a:srgbClr val="E8E8E2"/>
      </a:lt2>
      <a:accent1>
        <a:srgbClr val="9697C6"/>
      </a:accent1>
      <a:accent2>
        <a:srgbClr val="7F99BA"/>
      </a:accent2>
      <a:accent3>
        <a:srgbClr val="80ABB3"/>
      </a:accent3>
      <a:accent4>
        <a:srgbClr val="78B0A1"/>
      </a:accent4>
      <a:accent5>
        <a:srgbClr val="84AE91"/>
      </a:accent5>
      <a:accent6>
        <a:srgbClr val="7FB179"/>
      </a:accent6>
      <a:hlink>
        <a:srgbClr val="868551"/>
      </a:hlink>
      <a:folHlink>
        <a:srgbClr val="7F7F7F"/>
      </a:folHlink>
    </a:clrScheme>
    <a:fontScheme name="Trade Gothic">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terglowVTI" id="{804DBEB7-1920-4C72-A0CB-091339F1875F}" vid="{D4C59F5A-9ECA-4C96-BDFD-0606A75324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3296</TotalTime>
  <Words>2066</Words>
  <Application>Microsoft Office PowerPoint</Application>
  <PresentationFormat>Widescreen</PresentationFormat>
  <Paragraphs>224</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Calibri</vt:lpstr>
      <vt:lpstr>Times New Roman</vt:lpstr>
      <vt:lpstr>Trade Gothic Next Cond</vt:lpstr>
      <vt:lpstr>Trade Gothic Next Light</vt:lpstr>
      <vt:lpstr>Wingdings</vt:lpstr>
      <vt:lpstr>AfterglowVTI</vt:lpstr>
      <vt:lpstr>Project Presentation on Bank network</vt:lpstr>
      <vt:lpstr>Contents:</vt:lpstr>
      <vt:lpstr>Abstract</vt:lpstr>
      <vt:lpstr>Introduction</vt:lpstr>
      <vt:lpstr>Literature Survey/ Existing Work</vt:lpstr>
      <vt:lpstr>Literature Survey/ Existing Work</vt:lpstr>
      <vt:lpstr>Literature Survey/ Existing Work</vt:lpstr>
      <vt:lpstr>Literature Survey/ Existing Work</vt:lpstr>
      <vt:lpstr>Objective</vt:lpstr>
      <vt:lpstr>motivation</vt:lpstr>
      <vt:lpstr>Problem statement</vt:lpstr>
      <vt:lpstr>Proposed solution</vt:lpstr>
      <vt:lpstr>Proposed solution</vt:lpstr>
      <vt:lpstr>System Design</vt:lpstr>
      <vt:lpstr>Technical Details:-</vt:lpstr>
      <vt:lpstr>Implementation:- </vt:lpstr>
      <vt:lpstr>Testing &amp; Results:-</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Pritam Nanda</dc:creator>
  <cp:lastModifiedBy>Aayush Nanda</cp:lastModifiedBy>
  <cp:revision>16</cp:revision>
  <dcterms:created xsi:type="dcterms:W3CDTF">2024-12-18T04:45:52Z</dcterms:created>
  <dcterms:modified xsi:type="dcterms:W3CDTF">2025-04-10T04:55:01Z</dcterms:modified>
</cp:coreProperties>
</file>